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86DCF6-CF9E-4C11-AE60-407A80EAE2DE}" v="1" dt="2026-07-15T07:45:04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митрий Рубцов" userId="8f6ba42e62f7100f" providerId="LiveId" clId="{E7745B75-BBE6-4359-BE6C-D8CCC6D4AF31}"/>
    <pc:docChg chg="undo custSel modSld">
      <pc:chgData name="Дмитрий Рубцов" userId="8f6ba42e62f7100f" providerId="LiveId" clId="{E7745B75-BBE6-4359-BE6C-D8CCC6D4AF31}" dt="2026-07-15T08:27:19.114" v="86" actId="20577"/>
      <pc:docMkLst>
        <pc:docMk/>
      </pc:docMkLst>
      <pc:sldChg chg="modSp mod">
        <pc:chgData name="Дмитрий Рубцов" userId="8f6ba42e62f7100f" providerId="LiveId" clId="{E7745B75-BBE6-4359-BE6C-D8CCC6D4AF31}" dt="2026-07-15T07:45:04.122" v="48"/>
        <pc:sldMkLst>
          <pc:docMk/>
          <pc:sldMk cId="0" sldId="256"/>
        </pc:sldMkLst>
        <pc:spChg chg="mod">
          <ac:chgData name="Дмитрий Рубцов" userId="8f6ba42e62f7100f" providerId="LiveId" clId="{E7745B75-BBE6-4359-BE6C-D8CCC6D4AF31}" dt="2026-07-15T07:44:50.673" v="47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5T07:45:04.122" v="48"/>
          <ac:spMkLst>
            <pc:docMk/>
            <pc:sldMk cId="0" sldId="256"/>
            <ac:spMk id="6" creationId="{00000000-0000-0000-0000-000000000000}"/>
          </ac:spMkLst>
        </pc:spChg>
      </pc:sldChg>
      <pc:sldChg chg="addSp modSp mod">
        <pc:chgData name="Дмитрий Рубцов" userId="8f6ba42e62f7100f" providerId="LiveId" clId="{E7745B75-BBE6-4359-BE6C-D8CCC6D4AF31}" dt="2026-07-15T07:55:53.019" v="81" actId="2711"/>
        <pc:sldMkLst>
          <pc:docMk/>
          <pc:sldMk cId="0" sldId="257"/>
        </pc:sldMkLst>
        <pc:spChg chg="mod">
          <ac:chgData name="Дмитрий Рубцов" userId="8f6ba42e62f7100f" providerId="LiveId" clId="{E7745B75-BBE6-4359-BE6C-D8CCC6D4AF31}" dt="2026-07-14T07:04:37.741" v="2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5T07:45:33.487" v="58" actId="1076"/>
          <ac:spMkLst>
            <pc:docMk/>
            <pc:sldMk cId="0" sldId="257"/>
            <ac:spMk id="8" creationId="{00000000-0000-0000-0000-000000000000}"/>
          </ac:spMkLst>
        </pc:spChg>
        <pc:spChg chg="add mod">
          <ac:chgData name="Дмитрий Рубцов" userId="8f6ba42e62f7100f" providerId="LiveId" clId="{E7745B75-BBE6-4359-BE6C-D8CCC6D4AF31}" dt="2026-07-15T07:55:53.019" v="81" actId="2711"/>
          <ac:spMkLst>
            <pc:docMk/>
            <pc:sldMk cId="0" sldId="257"/>
            <ac:spMk id="12" creationId="{E4DCA901-884D-2A16-1319-D3C61EFA17A1}"/>
          </ac:spMkLst>
        </pc:spChg>
      </pc:sldChg>
      <pc:sldChg chg="delSp modSp mod">
        <pc:chgData name="Дмитрий Рубцов" userId="8f6ba42e62f7100f" providerId="LiveId" clId="{E7745B75-BBE6-4359-BE6C-D8CCC6D4AF31}" dt="2026-07-15T07:46:22.728" v="68" actId="14100"/>
        <pc:sldMkLst>
          <pc:docMk/>
          <pc:sldMk cId="0" sldId="258"/>
        </pc:sldMkLst>
        <pc:spChg chg="mod">
          <ac:chgData name="Дмитрий Рубцов" userId="8f6ba42e62f7100f" providerId="LiveId" clId="{E7745B75-BBE6-4359-BE6C-D8CCC6D4AF31}" dt="2026-07-15T07:46:22.728" v="68" actId="14100"/>
          <ac:spMkLst>
            <pc:docMk/>
            <pc:sldMk cId="0" sldId="258"/>
            <ac:spMk id="16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5T07:46:03.373" v="64" actId="14100"/>
          <ac:spMkLst>
            <pc:docMk/>
            <pc:sldMk cId="0" sldId="258"/>
            <ac:spMk id="20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5T07:46:14.757" v="66" actId="14100"/>
          <ac:spMkLst>
            <pc:docMk/>
            <pc:sldMk cId="0" sldId="258"/>
            <ac:spMk id="24" creationId="{00000000-0000-0000-0000-000000000000}"/>
          </ac:spMkLst>
        </pc:spChg>
        <pc:spChg chg="del mod">
          <ac:chgData name="Дмитрий Рубцов" userId="8f6ba42e62f7100f" providerId="LiveId" clId="{E7745B75-BBE6-4359-BE6C-D8CCC6D4AF31}" dt="2026-07-14T07:04:57.029" v="6"/>
          <ac:spMkLst>
            <pc:docMk/>
            <pc:sldMk cId="0" sldId="258"/>
            <ac:spMk id="29" creationId="{00000000-0000-0000-0000-000000000000}"/>
          </ac:spMkLst>
        </pc:spChg>
        <pc:spChg chg="del mod">
          <ac:chgData name="Дмитрий Рубцов" userId="8f6ba42e62f7100f" providerId="LiveId" clId="{E7745B75-BBE6-4359-BE6C-D8CCC6D4AF31}" dt="2026-07-14T07:04:57.030" v="8"/>
          <ac:spMkLst>
            <pc:docMk/>
            <pc:sldMk cId="0" sldId="258"/>
            <ac:spMk id="30" creationId="{00000000-0000-0000-0000-000000000000}"/>
          </ac:spMkLst>
        </pc:spChg>
      </pc:sldChg>
      <pc:sldChg chg="delSp modSp mod">
        <pc:chgData name="Дмитрий Рубцов" userId="8f6ba42e62f7100f" providerId="LiveId" clId="{E7745B75-BBE6-4359-BE6C-D8CCC6D4AF31}" dt="2026-07-14T07:06:37.890" v="31"/>
        <pc:sldMkLst>
          <pc:docMk/>
          <pc:sldMk cId="0" sldId="259"/>
        </pc:sldMkLst>
        <pc:spChg chg="mod">
          <ac:chgData name="Дмитрий Рубцов" userId="8f6ba42e62f7100f" providerId="LiveId" clId="{E7745B75-BBE6-4359-BE6C-D8CCC6D4AF31}" dt="2026-07-14T07:06:26.664" v="27" actId="14100"/>
          <ac:spMkLst>
            <pc:docMk/>
            <pc:sldMk cId="0" sldId="259"/>
            <ac:spMk id="6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4T07:06:01.651" v="20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4T07:05:55.624" v="19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4T07:05:44.874" v="16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4T07:05:41.126" v="15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4T07:06:15.204" v="2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4T07:06:18.814" v="25" actId="1076"/>
          <ac:spMkLst>
            <pc:docMk/>
            <pc:sldMk cId="0" sldId="259"/>
            <ac:spMk id="23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4T07:06:10.310" v="22" actId="1076"/>
          <ac:spMkLst>
            <pc:docMk/>
            <pc:sldMk cId="0" sldId="259"/>
            <ac:spMk id="24" creationId="{00000000-0000-0000-0000-000000000000}"/>
          </ac:spMkLst>
        </pc:spChg>
        <pc:spChg chg="del mod">
          <ac:chgData name="Дмитрий Рубцов" userId="8f6ba42e62f7100f" providerId="LiveId" clId="{E7745B75-BBE6-4359-BE6C-D8CCC6D4AF31}" dt="2026-07-14T07:06:37.890" v="31"/>
          <ac:spMkLst>
            <pc:docMk/>
            <pc:sldMk cId="0" sldId="259"/>
            <ac:spMk id="30" creationId="{00000000-0000-0000-0000-000000000000}"/>
          </ac:spMkLst>
        </pc:spChg>
      </pc:sldChg>
      <pc:sldChg chg="modSp mod">
        <pc:chgData name="Дмитрий Рубцов" userId="8f6ba42e62f7100f" providerId="LiveId" clId="{E7745B75-BBE6-4359-BE6C-D8CCC6D4AF31}" dt="2026-07-15T07:55:15.010" v="78" actId="14100"/>
        <pc:sldMkLst>
          <pc:docMk/>
          <pc:sldMk cId="0" sldId="260"/>
        </pc:sldMkLst>
        <pc:spChg chg="mod">
          <ac:chgData name="Дмитрий Рубцов" userId="8f6ba42e62f7100f" providerId="LiveId" clId="{E7745B75-BBE6-4359-BE6C-D8CCC6D4AF31}" dt="2026-07-15T07:54:46.289" v="70" actId="14100"/>
          <ac:spMkLst>
            <pc:docMk/>
            <pc:sldMk cId="0" sldId="260"/>
            <ac:spMk id="25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5T07:54:51.376" v="72" actId="14100"/>
          <ac:spMkLst>
            <pc:docMk/>
            <pc:sldMk cId="0" sldId="260"/>
            <ac:spMk id="28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5T07:54:56.419" v="74" actId="14100"/>
          <ac:spMkLst>
            <pc:docMk/>
            <pc:sldMk cId="0" sldId="260"/>
            <ac:spMk id="31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5T07:55:01.500" v="75" actId="14100"/>
          <ac:spMkLst>
            <pc:docMk/>
            <pc:sldMk cId="0" sldId="260"/>
            <ac:spMk id="34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5T07:55:07.091" v="76" actId="14100"/>
          <ac:spMkLst>
            <pc:docMk/>
            <pc:sldMk cId="0" sldId="260"/>
            <ac:spMk id="37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5T07:55:11.163" v="77" actId="14100"/>
          <ac:spMkLst>
            <pc:docMk/>
            <pc:sldMk cId="0" sldId="260"/>
            <ac:spMk id="40" creationId="{00000000-0000-0000-0000-000000000000}"/>
          </ac:spMkLst>
        </pc:spChg>
        <pc:spChg chg="mod">
          <ac:chgData name="Дмитрий Рубцов" userId="8f6ba42e62f7100f" providerId="LiveId" clId="{E7745B75-BBE6-4359-BE6C-D8CCC6D4AF31}" dt="2026-07-15T07:55:15.010" v="78" actId="14100"/>
          <ac:spMkLst>
            <pc:docMk/>
            <pc:sldMk cId="0" sldId="260"/>
            <ac:spMk id="43" creationId="{00000000-0000-0000-0000-000000000000}"/>
          </ac:spMkLst>
        </pc:spChg>
      </pc:sldChg>
      <pc:sldChg chg="modSp mod">
        <pc:chgData name="Дмитрий Рубцов" userId="8f6ba42e62f7100f" providerId="LiveId" clId="{E7745B75-BBE6-4359-BE6C-D8CCC6D4AF31}" dt="2026-07-15T08:27:19.114" v="86" actId="20577"/>
        <pc:sldMkLst>
          <pc:docMk/>
          <pc:sldMk cId="0" sldId="262"/>
        </pc:sldMkLst>
        <pc:graphicFrameChg chg="modGraphic">
          <ac:chgData name="Дмитрий Рубцов" userId="8f6ba42e62f7100f" providerId="LiveId" clId="{E7745B75-BBE6-4359-BE6C-D8CCC6D4AF31}" dt="2026-07-15T08:27:19.114" v="86" actId="20577"/>
          <ac:graphicFrameMkLst>
            <pc:docMk/>
            <pc:sldMk cId="0" sldId="262"/>
            <ac:graphicFrameMk id="5" creationId="{00000000-0000-0000-0000-000000000000}"/>
          </ac:graphicFrameMkLst>
        </pc:graphicFrameChg>
      </pc:sldChg>
      <pc:sldChg chg="modSp mod">
        <pc:chgData name="Дмитрий Рубцов" userId="8f6ba42e62f7100f" providerId="LiveId" clId="{E7745B75-BBE6-4359-BE6C-D8CCC6D4AF31}" dt="2026-07-15T07:55:27.933" v="79" actId="1076"/>
        <pc:sldMkLst>
          <pc:docMk/>
          <pc:sldMk cId="0" sldId="263"/>
        </pc:sldMkLst>
        <pc:spChg chg="mod">
          <ac:chgData name="Дмитрий Рубцов" userId="8f6ba42e62f7100f" providerId="LiveId" clId="{E7745B75-BBE6-4359-BE6C-D8CCC6D4AF31}" dt="2026-07-15T07:55:27.933" v="79" actId="1076"/>
          <ac:spMkLst>
            <pc:docMk/>
            <pc:sldMk cId="0" sldId="263"/>
            <ac:spMk id="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80000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12000" y="1692000"/>
            <a:ext cx="9720000" cy="79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F4E78"/>
                </a:solidFill>
                <a:latin typeface="Aptos"/>
              </a:rPr>
              <a:t>ПРИКЛАДНОЙ
АНАЛИЗ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8000" y="2676419"/>
            <a:ext cx="3305443" cy="335161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dirty="0" err="1">
                <a:solidFill>
                  <a:srgbClr val="202D37"/>
                </a:solidFill>
                <a:latin typeface="Aptos"/>
              </a:rPr>
              <a:t>Проект</a:t>
            </a:r>
            <a:r>
              <a:rPr sz="1800" b="0" dirty="0">
                <a:solidFill>
                  <a:srgbClr val="202D37"/>
                </a:solidFill>
                <a:latin typeface="Aptos"/>
              </a:rPr>
              <a:t> </a:t>
            </a:r>
            <a:r>
              <a:rPr lang="ru-RU" sz="1800" b="0" dirty="0">
                <a:solidFill>
                  <a:srgbClr val="202D37"/>
                </a:solidFill>
                <a:latin typeface="Aptos"/>
              </a:rPr>
              <a:t>РПД</a:t>
            </a:r>
            <a:r>
              <a:rPr sz="18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800" b="0" dirty="0" err="1">
                <a:solidFill>
                  <a:srgbClr val="202D37"/>
                </a:solidFill>
                <a:latin typeface="Aptos"/>
              </a:rPr>
              <a:t>для</a:t>
            </a:r>
            <a:r>
              <a:rPr sz="1800" b="0" dirty="0">
                <a:solidFill>
                  <a:srgbClr val="202D37"/>
                </a:solidFill>
                <a:latin typeface="Aptos"/>
              </a:rPr>
              <a:t> </a:t>
            </a:r>
            <a:r>
              <a:rPr lang="ru-RU" sz="1800" b="0" dirty="0">
                <a:solidFill>
                  <a:srgbClr val="202D37"/>
                </a:solidFill>
                <a:latin typeface="Aptos"/>
              </a:rPr>
              <a:t>6ого семестра</a:t>
            </a:r>
            <a:endParaRPr sz="1800" b="0" dirty="0">
              <a:solidFill>
                <a:srgbClr val="202D37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48000" y="3240000"/>
            <a:ext cx="8280000" cy="288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F75B5"/>
                </a:solidFill>
                <a:latin typeface="Aptos"/>
              </a:rPr>
              <a:t>3 ЗЕТ  ·  108 часов  ·  16 недель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5707974"/>
            <a:ext cx="3034536" cy="212051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r>
              <a:rPr lang="ru-RU" sz="1000" b="1" dirty="0"/>
              <a:t>Прикладная математика и информатика» (01.03.02)</a:t>
            </a:r>
            <a:endParaRPr lang="ru-RU" sz="1000" dirty="0">
              <a:effectLst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000" y="162000"/>
            <a:ext cx="7200000" cy="16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75B5"/>
                </a:solidFill>
                <a:latin typeface="Aptos"/>
              </a:rPr>
              <a:t>КОНЦЕПЦИЯ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342000"/>
            <a:ext cx="10620000" cy="43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4E78"/>
                </a:solidFill>
                <a:latin typeface="Aptos"/>
              </a:rPr>
              <a:t>Цель и задачи дисциплины</a:t>
            </a:r>
          </a:p>
        </p:txBody>
      </p:sp>
      <p:sp>
        <p:nvSpPr>
          <p:cNvPr id="4" name="Rectangle 3"/>
          <p:cNvSpPr/>
          <p:nvPr/>
        </p:nvSpPr>
        <p:spPr>
          <a:xfrm>
            <a:off x="396000" y="737999"/>
            <a:ext cx="11304000" cy="25200"/>
          </a:xfrm>
          <a:prstGeom prst="rect">
            <a:avLst/>
          </a:prstGeom>
          <a:solidFill>
            <a:srgbClr val="E4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96000" y="936000"/>
            <a:ext cx="11304000" cy="900000"/>
          </a:xfrm>
          <a:prstGeom prst="roundRect">
            <a:avLst/>
          </a:prstGeom>
          <a:solidFill>
            <a:srgbClr val="DD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000" y="1026000"/>
            <a:ext cx="1512000" cy="216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F75B5"/>
                </a:solidFill>
                <a:latin typeface="Aptos"/>
              </a:rPr>
              <a:t>ЦЕЛЬ</a:t>
            </a:r>
          </a:p>
        </p:txBody>
      </p:sp>
      <p:sp>
        <p:nvSpPr>
          <p:cNvPr id="7" name="TextBox 6"/>
          <p:cNvSpPr txBox="1"/>
          <p:nvPr/>
        </p:nvSpPr>
        <p:spPr>
          <a:xfrm flipH="1">
            <a:off x="1166753" y="1082531"/>
            <a:ext cx="9849247" cy="642938"/>
          </a:xfrm>
          <a:prstGeom prst="rect">
            <a:avLst/>
          </a:prstGeom>
          <a:noFill/>
        </p:spPr>
        <p:txBody>
          <a:bodyPr wrap="squar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dirty="0" err="1">
                <a:solidFill>
                  <a:srgbClr val="1F4E78"/>
                </a:solidFill>
                <a:latin typeface="Aptos"/>
              </a:rPr>
              <a:t>Сформировать</a:t>
            </a:r>
            <a:r>
              <a:rPr sz="19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900" b="1" dirty="0" err="1">
                <a:solidFill>
                  <a:srgbClr val="1F4E78"/>
                </a:solidFill>
                <a:latin typeface="Aptos"/>
              </a:rPr>
              <a:t>способность</a:t>
            </a:r>
            <a:r>
              <a:rPr sz="19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900" b="1" dirty="0" err="1">
                <a:solidFill>
                  <a:srgbClr val="1F4E78"/>
                </a:solidFill>
                <a:latin typeface="Aptos"/>
              </a:rPr>
              <a:t>преобразовывать</a:t>
            </a:r>
            <a:r>
              <a:rPr sz="19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900" b="1" dirty="0" err="1">
                <a:solidFill>
                  <a:srgbClr val="1F4E78"/>
                </a:solidFill>
                <a:latin typeface="Aptos"/>
              </a:rPr>
              <a:t>прикладную</a:t>
            </a:r>
            <a:r>
              <a:rPr sz="19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900" b="1" dirty="0" err="1">
                <a:solidFill>
                  <a:srgbClr val="1F4E78"/>
                </a:solidFill>
                <a:latin typeface="Aptos"/>
              </a:rPr>
              <a:t>проблему</a:t>
            </a:r>
            <a:r>
              <a:rPr sz="1900" b="1" dirty="0">
                <a:solidFill>
                  <a:srgbClr val="1F4E78"/>
                </a:solidFill>
                <a:latin typeface="Aptos"/>
              </a:rPr>
              <a:t> в </a:t>
            </a:r>
            <a:r>
              <a:rPr sz="1900" b="1" dirty="0" err="1">
                <a:solidFill>
                  <a:srgbClr val="1F4E78"/>
                </a:solidFill>
                <a:latin typeface="Aptos"/>
              </a:rPr>
              <a:t>воспроизводимое</a:t>
            </a:r>
            <a:r>
              <a:rPr sz="19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900" b="1" dirty="0" err="1">
                <a:solidFill>
                  <a:srgbClr val="1F4E78"/>
                </a:solidFill>
                <a:latin typeface="Aptos"/>
              </a:rPr>
              <a:t>аналитическое</a:t>
            </a:r>
            <a:r>
              <a:rPr sz="19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900" b="1" dirty="0" err="1">
                <a:solidFill>
                  <a:srgbClr val="1F4E78"/>
                </a:solidFill>
                <a:latin typeface="Aptos"/>
              </a:rPr>
              <a:t>решение</a:t>
            </a:r>
            <a:r>
              <a:rPr sz="1900" b="1" dirty="0">
                <a:solidFill>
                  <a:srgbClr val="1F4E78"/>
                </a:solidFill>
                <a:latin typeface="Aptos"/>
              </a:rPr>
              <a:t> и </a:t>
            </a:r>
            <a:r>
              <a:rPr sz="1900" b="1" dirty="0" err="1">
                <a:solidFill>
                  <a:srgbClr val="1F4E78"/>
                </a:solidFill>
                <a:latin typeface="Aptos"/>
              </a:rPr>
              <a:t>обоснованные</a:t>
            </a:r>
            <a:r>
              <a:rPr sz="19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900" b="1" dirty="0" err="1">
                <a:solidFill>
                  <a:srgbClr val="1F4E78"/>
                </a:solidFill>
                <a:latin typeface="Aptos"/>
              </a:rPr>
              <a:t>рекомендации</a:t>
            </a:r>
            <a:r>
              <a:rPr sz="1900" b="1" dirty="0">
                <a:solidFill>
                  <a:srgbClr val="1F4E78"/>
                </a:solidFill>
                <a:latin typeface="Apto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999" y="2508737"/>
            <a:ext cx="10980000" cy="3780000"/>
          </a:xfrm>
          <a:prstGeom prst="rect">
            <a:avLst/>
          </a:prstGeom>
          <a:noFill/>
        </p:spPr>
        <p:txBody>
          <a:bodyPr wrap="none" lIns="36000" tIns="18000" rIns="36000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02D37"/>
                </a:solidFill>
                <a:latin typeface="Aptos"/>
              </a:defRPr>
            </a:pPr>
            <a:r>
              <a:rPr dirty="0"/>
              <a:t>•  </a:t>
            </a:r>
            <a:r>
              <a:rPr dirty="0" err="1"/>
              <a:t>поставить</a:t>
            </a:r>
            <a:r>
              <a:rPr dirty="0"/>
              <a:t> </a:t>
            </a:r>
            <a:r>
              <a:rPr dirty="0" err="1"/>
              <a:t>аналитическую</a:t>
            </a:r>
            <a:r>
              <a:rPr dirty="0"/>
              <a:t> </a:t>
            </a:r>
            <a:r>
              <a:rPr dirty="0" err="1"/>
              <a:t>задачу</a:t>
            </a:r>
            <a:r>
              <a:rPr dirty="0"/>
              <a:t> и </a:t>
            </a:r>
            <a:r>
              <a:rPr dirty="0" err="1"/>
              <a:t>определить</a:t>
            </a:r>
            <a:r>
              <a:rPr dirty="0"/>
              <a:t> </a:t>
            </a:r>
            <a:r>
              <a:rPr dirty="0" err="1"/>
              <a:t>критерии</a:t>
            </a:r>
            <a:r>
              <a:rPr dirty="0"/>
              <a:t> </a:t>
            </a:r>
            <a:r>
              <a:rPr dirty="0" err="1"/>
              <a:t>успешности</a:t>
            </a:r>
            <a:r>
              <a:rPr dirty="0"/>
              <a:t>;</a:t>
            </a:r>
          </a:p>
          <a:p>
            <a:pPr>
              <a:spcAft>
                <a:spcPts val="1000"/>
              </a:spcAft>
              <a:defRPr sz="1700">
                <a:solidFill>
                  <a:srgbClr val="202D37"/>
                </a:solidFill>
                <a:latin typeface="Aptos"/>
              </a:defRPr>
            </a:pPr>
            <a:r>
              <a:rPr dirty="0"/>
              <a:t>•  </a:t>
            </a:r>
            <a:r>
              <a:rPr dirty="0" err="1"/>
              <a:t>исследовать</a:t>
            </a:r>
            <a:r>
              <a:rPr dirty="0"/>
              <a:t> </a:t>
            </a:r>
            <a:r>
              <a:rPr dirty="0" err="1"/>
              <a:t>качество</a:t>
            </a:r>
            <a:r>
              <a:rPr dirty="0"/>
              <a:t>, </a:t>
            </a:r>
            <a:r>
              <a:rPr dirty="0" err="1"/>
              <a:t>структуру</a:t>
            </a:r>
            <a:r>
              <a:rPr dirty="0"/>
              <a:t> и </a:t>
            </a:r>
            <a:r>
              <a:rPr dirty="0" err="1"/>
              <a:t>содержание</a:t>
            </a:r>
            <a:r>
              <a:rPr dirty="0"/>
              <a:t> </a:t>
            </a:r>
            <a:r>
              <a:rPr dirty="0" err="1"/>
              <a:t>данных</a:t>
            </a:r>
            <a:r>
              <a:rPr dirty="0"/>
              <a:t>;</a:t>
            </a:r>
          </a:p>
          <a:p>
            <a:pPr>
              <a:spcAft>
                <a:spcPts val="1000"/>
              </a:spcAft>
              <a:defRPr sz="1700">
                <a:solidFill>
                  <a:srgbClr val="202D37"/>
                </a:solidFill>
                <a:latin typeface="Aptos"/>
              </a:defRPr>
            </a:pPr>
            <a:r>
              <a:rPr dirty="0"/>
              <a:t>•  </a:t>
            </a:r>
            <a:r>
              <a:rPr dirty="0" err="1"/>
              <a:t>подготовить</a:t>
            </a:r>
            <a:r>
              <a:rPr dirty="0"/>
              <a:t> </a:t>
            </a:r>
            <a:r>
              <a:rPr dirty="0" err="1"/>
              <a:t>данные</a:t>
            </a:r>
            <a:r>
              <a:rPr dirty="0"/>
              <a:t> и </a:t>
            </a:r>
            <a:r>
              <a:rPr dirty="0" err="1"/>
              <a:t>признаки</a:t>
            </a:r>
            <a:r>
              <a:rPr dirty="0"/>
              <a:t> к </a:t>
            </a:r>
            <a:r>
              <a:rPr dirty="0" err="1"/>
              <a:t>моделированию</a:t>
            </a:r>
            <a:r>
              <a:rPr dirty="0"/>
              <a:t>;</a:t>
            </a:r>
          </a:p>
          <a:p>
            <a:pPr>
              <a:spcAft>
                <a:spcPts val="1000"/>
              </a:spcAft>
              <a:defRPr sz="1700">
                <a:solidFill>
                  <a:srgbClr val="202D37"/>
                </a:solidFill>
                <a:latin typeface="Aptos"/>
              </a:defRPr>
            </a:pPr>
            <a:r>
              <a:rPr dirty="0"/>
              <a:t>•  </a:t>
            </a:r>
            <a:r>
              <a:rPr dirty="0" err="1"/>
              <a:t>построить</a:t>
            </a:r>
            <a:r>
              <a:rPr dirty="0"/>
              <a:t> baseline и </a:t>
            </a:r>
            <a:r>
              <a:rPr dirty="0" err="1"/>
              <a:t>сравнить</a:t>
            </a:r>
            <a:r>
              <a:rPr dirty="0"/>
              <a:t> </a:t>
            </a:r>
            <a:r>
              <a:rPr dirty="0" err="1"/>
              <a:t>альтернативные</a:t>
            </a:r>
            <a:r>
              <a:rPr dirty="0"/>
              <a:t> </a:t>
            </a:r>
            <a:r>
              <a:rPr dirty="0" err="1"/>
              <a:t>модели</a:t>
            </a:r>
            <a:r>
              <a:rPr dirty="0"/>
              <a:t>;</a:t>
            </a:r>
          </a:p>
          <a:p>
            <a:pPr>
              <a:spcAft>
                <a:spcPts val="1000"/>
              </a:spcAft>
              <a:defRPr sz="1700">
                <a:solidFill>
                  <a:srgbClr val="202D37"/>
                </a:solidFill>
                <a:latin typeface="Aptos"/>
              </a:defRPr>
            </a:pPr>
            <a:r>
              <a:rPr dirty="0"/>
              <a:t>•  </a:t>
            </a:r>
            <a:r>
              <a:rPr dirty="0" err="1"/>
              <a:t>выбрать</a:t>
            </a:r>
            <a:r>
              <a:rPr dirty="0"/>
              <a:t> </a:t>
            </a:r>
            <a:r>
              <a:rPr dirty="0" err="1"/>
              <a:t>схему</a:t>
            </a:r>
            <a:r>
              <a:rPr dirty="0"/>
              <a:t> </a:t>
            </a:r>
            <a:r>
              <a:rPr dirty="0" err="1"/>
              <a:t>валидации</a:t>
            </a:r>
            <a:r>
              <a:rPr dirty="0"/>
              <a:t> и </a:t>
            </a:r>
            <a:r>
              <a:rPr dirty="0" err="1"/>
              <a:t>метрики</a:t>
            </a:r>
            <a:r>
              <a:rPr dirty="0"/>
              <a:t> </a:t>
            </a:r>
            <a:r>
              <a:rPr dirty="0" err="1"/>
              <a:t>под</a:t>
            </a:r>
            <a:r>
              <a:rPr dirty="0"/>
              <a:t> </a:t>
            </a:r>
            <a:r>
              <a:rPr dirty="0" err="1"/>
              <a:t>прикладную</a:t>
            </a:r>
            <a:r>
              <a:rPr dirty="0"/>
              <a:t> </a:t>
            </a:r>
            <a:r>
              <a:rPr dirty="0" err="1"/>
              <a:t>задачу</a:t>
            </a:r>
            <a:r>
              <a:rPr dirty="0"/>
              <a:t>;</a:t>
            </a:r>
          </a:p>
          <a:p>
            <a:pPr>
              <a:spcAft>
                <a:spcPts val="1000"/>
              </a:spcAft>
              <a:defRPr sz="1700">
                <a:solidFill>
                  <a:srgbClr val="202D37"/>
                </a:solidFill>
                <a:latin typeface="Aptos"/>
              </a:defRPr>
            </a:pPr>
            <a:r>
              <a:rPr dirty="0"/>
              <a:t>•  </a:t>
            </a:r>
            <a:r>
              <a:rPr dirty="0" err="1"/>
              <a:t>представить</a:t>
            </a:r>
            <a:r>
              <a:rPr dirty="0"/>
              <a:t> </a:t>
            </a:r>
            <a:r>
              <a:rPr dirty="0" err="1"/>
              <a:t>выводы</a:t>
            </a:r>
            <a:r>
              <a:rPr dirty="0"/>
              <a:t>, </a:t>
            </a:r>
            <a:r>
              <a:rPr dirty="0" err="1"/>
              <a:t>ограничения</a:t>
            </a:r>
            <a:r>
              <a:rPr dirty="0"/>
              <a:t> и </a:t>
            </a:r>
            <a:r>
              <a:rPr dirty="0" err="1"/>
              <a:t>рекомендации</a:t>
            </a:r>
            <a:r>
              <a:rPr dirty="0"/>
              <a:t> </a:t>
            </a:r>
            <a:r>
              <a:rPr dirty="0" err="1"/>
              <a:t>заказчику</a:t>
            </a:r>
            <a:r>
              <a:rPr dirty="0"/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6588000"/>
            <a:ext cx="7200000" cy="125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Прикладной анализ данных · проект дисциплины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96000" y="6588000"/>
            <a:ext cx="503999" cy="125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DCA901-884D-2A16-1319-D3C61EFA17A1}"/>
              </a:ext>
            </a:extLst>
          </p:cNvPr>
          <p:cNvSpPr txBox="1"/>
          <p:nvPr/>
        </p:nvSpPr>
        <p:spPr>
          <a:xfrm>
            <a:off x="612000" y="1958936"/>
            <a:ext cx="6097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Aptos" panose="020B0004020202020204" pitchFamily="34" charset="0"/>
              </a:rPr>
              <a:t>Задачи</a:t>
            </a:r>
            <a:r>
              <a:rPr lang="ru-RU" dirty="0">
                <a:latin typeface="Aptos" panose="020B0004020202020204" pitchFamily="34" charset="0"/>
              </a:rPr>
              <a:t>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000" y="162000"/>
            <a:ext cx="7200000" cy="16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75B5"/>
                </a:solidFill>
                <a:latin typeface="Aptos"/>
              </a:rPr>
              <a:t>ВХОДНОЙ ПРОФИЛЬ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342000"/>
            <a:ext cx="10620000" cy="43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4E78"/>
                </a:solidFill>
                <a:latin typeface="Aptos"/>
              </a:rPr>
              <a:t>Что студент уже знает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396000" y="737999"/>
            <a:ext cx="11304000" cy="25200"/>
          </a:xfrm>
          <a:prstGeom prst="rect">
            <a:avLst/>
          </a:prstGeom>
          <a:solidFill>
            <a:srgbClr val="E4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96000" y="936000"/>
            <a:ext cx="3491999" cy="1944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96000" y="936000"/>
            <a:ext cx="57600" cy="194400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0000" y="1026000"/>
            <a:ext cx="324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Математический анализ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296000"/>
            <a:ext cx="3240000" cy="1512000"/>
          </a:xfrm>
          <a:prstGeom prst="rect">
            <a:avLst/>
          </a:prstGeom>
          <a:noFill/>
        </p:spPr>
        <p:txBody>
          <a:bodyPr wrap="none" lIns="54000" tIns="28800" rIns="54000" bIns="288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02D37"/>
                </a:solidFill>
                <a:latin typeface="Aptos"/>
              </a:rPr>
              <a:t>Функции, производные, экстремумы, градиент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4000" y="936000"/>
            <a:ext cx="3491999" cy="1944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84000" y="936000"/>
            <a:ext cx="57600" cy="19440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28000" y="1026000"/>
            <a:ext cx="324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Линейная алгебра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8000" y="1296000"/>
            <a:ext cx="3240000" cy="1512000"/>
          </a:xfrm>
          <a:prstGeom prst="rect">
            <a:avLst/>
          </a:prstGeom>
          <a:noFill/>
        </p:spPr>
        <p:txBody>
          <a:bodyPr wrap="none" lIns="54000" tIns="28800" rIns="54000" bIns="288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02D37"/>
                </a:solidFill>
                <a:latin typeface="Aptos"/>
              </a:rPr>
              <a:t>Векторы, матрицы, расстояния и проекции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2000" y="936000"/>
            <a:ext cx="3491999" cy="1944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72000" y="936000"/>
            <a:ext cx="57600" cy="1944000"/>
          </a:xfrm>
          <a:prstGeom prst="rect">
            <a:avLst/>
          </a:prstGeom>
          <a:solidFill>
            <a:srgbClr val="E6A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16000" y="1026000"/>
            <a:ext cx="324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Вероятность и статистика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6000" y="1296000"/>
            <a:ext cx="3240000" cy="412106"/>
          </a:xfrm>
          <a:prstGeom prst="rect">
            <a:avLst/>
          </a:prstGeom>
          <a:noFill/>
        </p:spPr>
        <p:txBody>
          <a:bodyPr wrap="square" lIns="54000" tIns="28800" rIns="54000" bIns="288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dirty="0" err="1">
                <a:solidFill>
                  <a:srgbClr val="202D37"/>
                </a:solidFill>
                <a:latin typeface="Aptos"/>
              </a:rPr>
              <a:t>Выборка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распределения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среднее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разброс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гипотезы</a:t>
            </a:r>
            <a:endParaRPr sz="1150" b="0" dirty="0">
              <a:solidFill>
                <a:srgbClr val="202D37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96000" y="3348000"/>
            <a:ext cx="3491999" cy="1944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96000" y="3348000"/>
            <a:ext cx="57600" cy="194400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0000" y="3438000"/>
            <a:ext cx="324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Программирование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999" y="3708000"/>
            <a:ext cx="3239999" cy="412106"/>
          </a:xfrm>
          <a:prstGeom prst="rect">
            <a:avLst/>
          </a:prstGeom>
          <a:noFill/>
        </p:spPr>
        <p:txBody>
          <a:bodyPr wrap="square" lIns="54000" tIns="28800" rIns="54000" bIns="288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dirty="0" err="1">
                <a:solidFill>
                  <a:srgbClr val="202D37"/>
                </a:solidFill>
                <a:latin typeface="Aptos"/>
              </a:rPr>
              <a:t>Базовый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 Python: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функции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коллекции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файлы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 и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модули</a:t>
            </a:r>
            <a:endParaRPr sz="1150" b="0" dirty="0">
              <a:solidFill>
                <a:srgbClr val="202D37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284000" y="3348000"/>
            <a:ext cx="3491999" cy="1944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84000" y="3348000"/>
            <a:ext cx="57600" cy="19440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28000" y="3438000"/>
            <a:ext cx="324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Обработка данных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000" y="3708000"/>
            <a:ext cx="3240000" cy="412106"/>
          </a:xfrm>
          <a:prstGeom prst="rect">
            <a:avLst/>
          </a:prstGeom>
          <a:noFill/>
        </p:spPr>
        <p:txBody>
          <a:bodyPr wrap="square" lIns="54000" tIns="28800" rIns="54000" bIns="288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dirty="0" err="1">
                <a:solidFill>
                  <a:srgbClr val="202D37"/>
                </a:solidFill>
                <a:latin typeface="Aptos"/>
              </a:rPr>
              <a:t>Форматы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очистка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преобразование</a:t>
            </a:r>
            <a:r>
              <a:rPr sz="1150" b="0" dirty="0">
                <a:solidFill>
                  <a:srgbClr val="202D37"/>
                </a:solidFill>
                <a:latin typeface="Aptos"/>
              </a:rPr>
              <a:t>, ETL/ELT и </a:t>
            </a:r>
            <a:r>
              <a:rPr sz="1150" b="0" dirty="0" err="1">
                <a:solidFill>
                  <a:srgbClr val="202D37"/>
                </a:solidFill>
                <a:latin typeface="Aptos"/>
              </a:rPr>
              <a:t>качество</a:t>
            </a:r>
            <a:endParaRPr sz="1150" b="0" dirty="0">
              <a:solidFill>
                <a:srgbClr val="202D37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172000" y="3348000"/>
            <a:ext cx="3491999" cy="1944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72000" y="3348000"/>
            <a:ext cx="57600" cy="1944000"/>
          </a:xfrm>
          <a:prstGeom prst="rect">
            <a:avLst/>
          </a:prstGeom>
          <a:solidFill>
            <a:srgbClr val="E6A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16000" y="3438000"/>
            <a:ext cx="324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Базы данных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6000" y="3708000"/>
            <a:ext cx="3240000" cy="1512000"/>
          </a:xfrm>
          <a:prstGeom prst="rect">
            <a:avLst/>
          </a:prstGeom>
          <a:noFill/>
        </p:spPr>
        <p:txBody>
          <a:bodyPr wrap="none" lIns="54000" tIns="28800" rIns="54000" bIns="288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02D37"/>
                </a:solidFill>
                <a:latin typeface="Aptos"/>
              </a:rPr>
              <a:t>Таблицы, ключи и базовый SQL — желательно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96000" y="6588000"/>
            <a:ext cx="503999" cy="125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000" y="162000"/>
            <a:ext cx="7200000" cy="16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75B5"/>
                </a:solidFill>
                <a:latin typeface="Aptos"/>
              </a:rPr>
              <a:t>КОМПЕТЕНТНОСТНАЯ 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342000"/>
            <a:ext cx="10620000" cy="43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4E78"/>
                </a:solidFill>
                <a:latin typeface="Aptos"/>
              </a:rPr>
              <a:t>Три сквозные компетенции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396000" y="737999"/>
            <a:ext cx="11304000" cy="25200"/>
          </a:xfrm>
          <a:prstGeom prst="rect">
            <a:avLst/>
          </a:prstGeom>
          <a:solidFill>
            <a:srgbClr val="E4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96000" y="1080000"/>
            <a:ext cx="3528000" cy="3888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96000" y="1080000"/>
            <a:ext cx="57600" cy="388800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9999" y="1306691"/>
            <a:ext cx="3026281" cy="519827"/>
          </a:xfrm>
          <a:prstGeom prst="rect">
            <a:avLst/>
          </a:prstGeom>
          <a:noFill/>
        </p:spPr>
        <p:txBody>
          <a:bodyPr wrap="squar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1F4E78"/>
                </a:solidFill>
                <a:latin typeface="Aptos"/>
              </a:rPr>
              <a:t>LC-1  ·  </a:t>
            </a:r>
            <a:r>
              <a:rPr sz="1500" b="1" dirty="0" err="1">
                <a:solidFill>
                  <a:srgbClr val="1F4E78"/>
                </a:solidFill>
                <a:latin typeface="Aptos"/>
              </a:rPr>
              <a:t>Понимание</a:t>
            </a:r>
            <a:r>
              <a:rPr sz="15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500" b="1" dirty="0" err="1">
                <a:solidFill>
                  <a:srgbClr val="1F4E78"/>
                </a:solidFill>
                <a:latin typeface="Aptos"/>
              </a:rPr>
              <a:t>прикладной</a:t>
            </a:r>
            <a:r>
              <a:rPr sz="15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500" b="1" dirty="0" err="1">
                <a:solidFill>
                  <a:srgbClr val="1F4E78"/>
                </a:solidFill>
                <a:latin typeface="Aptos"/>
              </a:rPr>
              <a:t>проблемы</a:t>
            </a:r>
            <a:endParaRPr sz="1500" b="1" dirty="0">
              <a:solidFill>
                <a:srgbClr val="1F4E78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58179" y="2024518"/>
            <a:ext cx="3199081" cy="458272"/>
          </a:xfrm>
          <a:prstGeom prst="rect">
            <a:avLst/>
          </a:prstGeom>
          <a:noFill/>
        </p:spPr>
        <p:txBody>
          <a:bodyPr wrap="square" lIns="54000" tIns="28800" rIns="54000" bIns="288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dirty="0" err="1">
                <a:solidFill>
                  <a:srgbClr val="202D37"/>
                </a:solidFill>
                <a:latin typeface="Aptos"/>
              </a:rPr>
              <a:t>Формализует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проблему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цель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анализа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ограничения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и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критерии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успешности</a:t>
            </a:r>
            <a:endParaRPr sz="1300" b="0" dirty="0">
              <a:solidFill>
                <a:srgbClr val="202D37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76000" y="4212000"/>
            <a:ext cx="1764000" cy="36000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000" y="4266000"/>
            <a:ext cx="1655999" cy="216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Индикаторы 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84000" y="4212000"/>
            <a:ext cx="1152000" cy="360000"/>
          </a:xfrm>
          <a:prstGeom prst="round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38000" y="4266000"/>
            <a:ext cx="1044000" cy="216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Уровень 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4000" y="1080000"/>
            <a:ext cx="3528000" cy="3888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84000" y="1080000"/>
            <a:ext cx="57600" cy="38880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7552" y="1270086"/>
            <a:ext cx="3276000" cy="519827"/>
          </a:xfrm>
          <a:prstGeom prst="rect">
            <a:avLst/>
          </a:prstGeom>
          <a:noFill/>
        </p:spPr>
        <p:txBody>
          <a:bodyPr wrap="squar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1F4E78"/>
                </a:solidFill>
                <a:latin typeface="Aptos"/>
              </a:rPr>
              <a:t>BD-1  ·  </a:t>
            </a:r>
            <a:r>
              <a:rPr sz="1500" b="1" dirty="0" err="1">
                <a:solidFill>
                  <a:srgbClr val="1F4E78"/>
                </a:solidFill>
                <a:latin typeface="Aptos"/>
              </a:rPr>
              <a:t>Исследование</a:t>
            </a:r>
            <a:r>
              <a:rPr sz="1500" b="1" dirty="0">
                <a:solidFill>
                  <a:srgbClr val="1F4E78"/>
                </a:solidFill>
                <a:latin typeface="Aptos"/>
              </a:rPr>
              <a:t> и </a:t>
            </a:r>
            <a:r>
              <a:rPr sz="1500" b="1" dirty="0" err="1">
                <a:solidFill>
                  <a:srgbClr val="1F4E78"/>
                </a:solidFill>
                <a:latin typeface="Aptos"/>
              </a:rPr>
              <a:t>подготовка</a:t>
            </a:r>
            <a:r>
              <a:rPr sz="15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500" b="1" dirty="0" err="1">
                <a:solidFill>
                  <a:srgbClr val="1F4E78"/>
                </a:solidFill>
                <a:latin typeface="Aptos"/>
              </a:rPr>
              <a:t>данных</a:t>
            </a:r>
            <a:endParaRPr sz="1500" b="1" dirty="0">
              <a:solidFill>
                <a:srgbClr val="1F4E78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52574" y="2023913"/>
            <a:ext cx="3276001" cy="658327"/>
          </a:xfrm>
          <a:prstGeom prst="rect">
            <a:avLst/>
          </a:prstGeom>
          <a:noFill/>
        </p:spPr>
        <p:txBody>
          <a:bodyPr wrap="square" lIns="54000" tIns="28800" rIns="54000" bIns="288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dirty="0" err="1">
                <a:solidFill>
                  <a:srgbClr val="202D37"/>
                </a:solidFill>
                <a:latin typeface="Aptos"/>
              </a:rPr>
              <a:t>Исследует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данные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проверяет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гипотезы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обосновывает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очистку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и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формирует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признаки</a:t>
            </a:r>
            <a:endParaRPr sz="1300" b="0" dirty="0">
              <a:solidFill>
                <a:srgbClr val="202D37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464000" y="4212000"/>
            <a:ext cx="1764000" cy="360000"/>
          </a:xfrm>
          <a:prstGeom prst="round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18000" y="4266000"/>
            <a:ext cx="1655999" cy="216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Индикаторы 1.2 · 1.3 · 1.5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2000" y="4212000"/>
            <a:ext cx="1152000" cy="360000"/>
          </a:xfrm>
          <a:prstGeom prst="round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26000" y="4266000"/>
            <a:ext cx="1044000" cy="216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Уровень 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2000" y="1080000"/>
            <a:ext cx="3528000" cy="3888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72000" y="1080000"/>
            <a:ext cx="57600" cy="3888000"/>
          </a:xfrm>
          <a:prstGeom prst="rect">
            <a:avLst/>
          </a:prstGeom>
          <a:solidFill>
            <a:srgbClr val="E6A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16000" y="1392005"/>
            <a:ext cx="3276001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1F4E78"/>
                </a:solidFill>
                <a:latin typeface="Aptos"/>
              </a:rPr>
              <a:t>ML-2  ·  </a:t>
            </a:r>
            <a:r>
              <a:rPr sz="1500" b="1" dirty="0" err="1">
                <a:solidFill>
                  <a:srgbClr val="1F4E78"/>
                </a:solidFill>
                <a:latin typeface="Aptos"/>
              </a:rPr>
              <a:t>Моделирование</a:t>
            </a:r>
            <a:r>
              <a:rPr sz="1500" b="1" dirty="0">
                <a:solidFill>
                  <a:srgbClr val="1F4E78"/>
                </a:solidFill>
                <a:latin typeface="Aptos"/>
              </a:rPr>
              <a:t> и </a:t>
            </a:r>
            <a:r>
              <a:rPr sz="1500" b="1" dirty="0" err="1">
                <a:solidFill>
                  <a:srgbClr val="1F4E78"/>
                </a:solidFill>
                <a:latin typeface="Aptos"/>
              </a:rPr>
              <a:t>оценка</a:t>
            </a:r>
            <a:endParaRPr sz="1500" b="1" dirty="0">
              <a:solidFill>
                <a:srgbClr val="1F4E78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52000" y="2208008"/>
            <a:ext cx="2880000" cy="658327"/>
          </a:xfrm>
          <a:prstGeom prst="rect">
            <a:avLst/>
          </a:prstGeom>
          <a:noFill/>
        </p:spPr>
        <p:txBody>
          <a:bodyPr wrap="square" lIns="54000" tIns="28800" rIns="54000" bIns="288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dirty="0" err="1">
                <a:solidFill>
                  <a:srgbClr val="202D37"/>
                </a:solidFill>
                <a:latin typeface="Aptos"/>
              </a:rPr>
              <a:t>Выбирает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тип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задачи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строит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модели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,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применяет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валидацию</a:t>
            </a:r>
            <a:r>
              <a:rPr sz="1300" b="0" dirty="0">
                <a:solidFill>
                  <a:srgbClr val="202D37"/>
                </a:solidFill>
                <a:latin typeface="Aptos"/>
              </a:rPr>
              <a:t> и </a:t>
            </a:r>
            <a:r>
              <a:rPr sz="1300" b="0" dirty="0" err="1">
                <a:solidFill>
                  <a:srgbClr val="202D37"/>
                </a:solidFill>
                <a:latin typeface="Aptos"/>
              </a:rPr>
              <a:t>метрики</a:t>
            </a:r>
            <a:endParaRPr sz="1300" b="0" dirty="0">
              <a:solidFill>
                <a:srgbClr val="202D37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352000" y="4212000"/>
            <a:ext cx="1764000" cy="360000"/>
          </a:xfrm>
          <a:prstGeom prst="roundRect">
            <a:avLst/>
          </a:prstGeom>
          <a:solidFill>
            <a:srgbClr val="E6A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6000" y="4266000"/>
            <a:ext cx="1655999" cy="216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Индикаторы 2.1 · 2.2 · 2.3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0000" y="4212000"/>
            <a:ext cx="1152000" cy="360000"/>
          </a:xfrm>
          <a:prstGeom prst="round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314000" y="4266000"/>
            <a:ext cx="1044000" cy="216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Уровень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000" y="5436000"/>
            <a:ext cx="11232000" cy="468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64707A"/>
                </a:solidFill>
                <a:latin typeface="Aptos"/>
              </a:rPr>
              <a:t>Python остаётся основным инструментом выполнения заданий, но не выделяется в отдельную защищаемую компетенцию.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96000" y="6588000"/>
            <a:ext cx="503999" cy="125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000" y="162000"/>
            <a:ext cx="7200000" cy="1620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75B5"/>
                </a:solidFill>
                <a:latin typeface="Aptos"/>
              </a:rPr>
              <a:t>КОМПЕТЕНТНОСТНАЯ 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342000"/>
            <a:ext cx="10620000" cy="4320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4E78"/>
                </a:solidFill>
                <a:latin typeface="Aptos"/>
              </a:rPr>
              <a:t>Индикаторы и их 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96000" y="737999"/>
            <a:ext cx="11304000" cy="25200"/>
          </a:xfrm>
          <a:prstGeom prst="rect">
            <a:avLst/>
          </a:prstGeom>
          <a:solidFill>
            <a:srgbClr val="E4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96000" y="917999"/>
            <a:ext cx="3600000" cy="5256000"/>
          </a:xfrm>
          <a:prstGeom prst="roundRect">
            <a:avLst/>
          </a:prstGeom>
          <a:solidFill>
            <a:srgbClr val="F2F7FB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96000" y="917999"/>
            <a:ext cx="3600000" cy="720000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0000" y="1007999"/>
            <a:ext cx="900000" cy="2340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LC-1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249199"/>
            <a:ext cx="2808000" cy="2592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Постановка задачи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6000" y="1079999"/>
            <a:ext cx="522000" cy="270000"/>
          </a:xfrm>
          <a:prstGeom prst="round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12000" y="1108799"/>
            <a:ext cx="450000" cy="1980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2000" y="917999"/>
            <a:ext cx="3600000" cy="5256000"/>
          </a:xfrm>
          <a:prstGeom prst="roundRect">
            <a:avLst/>
          </a:prstGeom>
          <a:solidFill>
            <a:srgbClr val="F2F7FB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02000" y="917999"/>
            <a:ext cx="3600000" cy="720000"/>
          </a:xfrm>
          <a:prstGeom prst="round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46000" y="1007999"/>
            <a:ext cx="900000" cy="2340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BD-1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6000" y="1249199"/>
            <a:ext cx="2808000" cy="2592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Работа с данными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82000" y="1079999"/>
            <a:ext cx="522000" cy="270000"/>
          </a:xfrm>
          <a:prstGeom prst="round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18000" y="1108799"/>
            <a:ext cx="450000" cy="1980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08000" y="917999"/>
            <a:ext cx="3600000" cy="5256000"/>
          </a:xfrm>
          <a:prstGeom prst="roundRect">
            <a:avLst/>
          </a:prstGeom>
          <a:solidFill>
            <a:srgbClr val="F2F7FB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08000" y="917999"/>
            <a:ext cx="3600000" cy="720000"/>
          </a:xfrm>
          <a:prstGeom prst="roundRect">
            <a:avLst/>
          </a:prstGeom>
          <a:solidFill>
            <a:srgbClr val="E6A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52000" y="1007999"/>
            <a:ext cx="900000" cy="2340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ML-2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2000" y="1249199"/>
            <a:ext cx="2808000" cy="2592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Моделирование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88000" y="1079999"/>
            <a:ext cx="522000" cy="270000"/>
          </a:xfrm>
          <a:prstGeom prst="round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124000" y="1108799"/>
            <a:ext cx="450000" cy="198000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8000" y="1997999"/>
            <a:ext cx="3276000" cy="2988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58000" y="1997999"/>
            <a:ext cx="50400" cy="298800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0000" y="2497703"/>
            <a:ext cx="3042000" cy="1988592"/>
          </a:xfrm>
          <a:prstGeom prst="rect">
            <a:avLst/>
          </a:prstGeom>
          <a:noFill/>
        </p:spPr>
        <p:txBody>
          <a:bodyPr wrap="square" lIns="18000" tIns="14400" rIns="18000" bIns="1440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500" b="1" dirty="0">
                <a:solidFill>
                  <a:srgbClr val="2F75B5"/>
                </a:solidFill>
                <a:latin typeface="Aptos"/>
              </a:rPr>
              <a:t>LC-1.1</a:t>
            </a:r>
          </a:p>
          <a:p>
            <a:pPr>
              <a:spcAft>
                <a:spcPts val="1000"/>
              </a:spcAft>
            </a:pPr>
            <a:r>
              <a:rPr sz="1700" b="1" dirty="0" err="1">
                <a:solidFill>
                  <a:srgbClr val="1F4E78"/>
                </a:solidFill>
                <a:latin typeface="Aptos"/>
              </a:rPr>
              <a:t>Формулирует</a:t>
            </a:r>
            <a:r>
              <a:rPr sz="17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F4E78"/>
                </a:solidFill>
                <a:latin typeface="Aptos"/>
              </a:rPr>
              <a:t>прикладную</a:t>
            </a:r>
            <a:r>
              <a:rPr sz="17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F4E78"/>
                </a:solidFill>
                <a:latin typeface="Aptos"/>
              </a:rPr>
              <a:t>задачу</a:t>
            </a:r>
            <a:endParaRPr sz="1700" b="1" dirty="0">
              <a:solidFill>
                <a:srgbClr val="1F4E78"/>
              </a:solidFill>
              <a:latin typeface="Aptos"/>
            </a:endParaRPr>
          </a:p>
          <a:p>
            <a:pPr>
              <a:spcAft>
                <a:spcPts val="0"/>
              </a:spcAft>
            </a:pPr>
            <a:r>
              <a:rPr sz="1300" dirty="0" err="1">
                <a:solidFill>
                  <a:srgbClr val="202D37"/>
                </a:solidFill>
                <a:latin typeface="Aptos"/>
              </a:rPr>
              <a:t>Определяет</a:t>
            </a:r>
            <a:r>
              <a:rPr sz="130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проблему</a:t>
            </a:r>
            <a:r>
              <a:rPr sz="1300" dirty="0">
                <a:solidFill>
                  <a:srgbClr val="202D37"/>
                </a:solidFill>
                <a:latin typeface="Aptos"/>
              </a:rPr>
              <a:t>,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заинтересованные</a:t>
            </a:r>
            <a:r>
              <a:rPr sz="130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стороны</a:t>
            </a:r>
            <a:r>
              <a:rPr sz="1300" dirty="0">
                <a:solidFill>
                  <a:srgbClr val="202D37"/>
                </a:solidFill>
                <a:latin typeface="Aptos"/>
              </a:rPr>
              <a:t>,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цель</a:t>
            </a:r>
            <a:r>
              <a:rPr sz="130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анализа</a:t>
            </a:r>
            <a:r>
              <a:rPr sz="1300" dirty="0">
                <a:solidFill>
                  <a:srgbClr val="202D37"/>
                </a:solidFill>
                <a:latin typeface="Aptos"/>
              </a:rPr>
              <a:t>,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ограничения</a:t>
            </a:r>
            <a:r>
              <a:rPr sz="1300" dirty="0">
                <a:solidFill>
                  <a:srgbClr val="202D37"/>
                </a:solidFill>
                <a:latin typeface="Aptos"/>
              </a:rPr>
              <a:t>,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требования</a:t>
            </a:r>
            <a:r>
              <a:rPr sz="1300" dirty="0">
                <a:solidFill>
                  <a:srgbClr val="202D37"/>
                </a:solidFill>
                <a:latin typeface="Aptos"/>
              </a:rPr>
              <a:t> к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данным</a:t>
            </a:r>
            <a:r>
              <a:rPr sz="1300" dirty="0">
                <a:solidFill>
                  <a:srgbClr val="202D37"/>
                </a:solidFill>
                <a:latin typeface="Aptos"/>
              </a:rPr>
              <a:t> и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измеримые</a:t>
            </a:r>
            <a:r>
              <a:rPr sz="130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критерии</a:t>
            </a:r>
            <a:r>
              <a:rPr sz="1300" dirty="0">
                <a:solidFill>
                  <a:srgbClr val="202D37"/>
                </a:solidFill>
                <a:latin typeface="Aptos"/>
              </a:rPr>
              <a:t> </a:t>
            </a:r>
            <a:r>
              <a:rPr sz="1300" dirty="0" err="1">
                <a:solidFill>
                  <a:srgbClr val="202D37"/>
                </a:solidFill>
                <a:latin typeface="Aptos"/>
              </a:rPr>
              <a:t>успешности</a:t>
            </a:r>
            <a:r>
              <a:rPr sz="1300" dirty="0">
                <a:solidFill>
                  <a:srgbClr val="202D37"/>
                </a:solidFill>
                <a:latin typeface="Aptos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64000" y="1835998"/>
            <a:ext cx="3276000" cy="1206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64000" y="1835998"/>
            <a:ext cx="50400" cy="12060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26000" y="1925998"/>
            <a:ext cx="2988000" cy="965235"/>
          </a:xfrm>
          <a:prstGeom prst="rect">
            <a:avLst/>
          </a:prstGeom>
          <a:noFill/>
        </p:spPr>
        <p:txBody>
          <a:bodyPr wrap="square" lIns="18000" tIns="14400" rIns="18000" bIns="144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F8E97"/>
                </a:solidFill>
                <a:latin typeface="Aptos"/>
              </a:rPr>
              <a:t>BD-1.2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4E78"/>
                </a:solidFill>
                <a:latin typeface="Aptos"/>
              </a:rPr>
              <a:t>Исследует данные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02D37"/>
                </a:solidFill>
                <a:latin typeface="Aptos"/>
              </a:rPr>
              <a:t>Выполняет одномерный и многомерный анализ, визуализирует данные и формулирует проверяемые гипотезы.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64000" y="3221999"/>
            <a:ext cx="3276000" cy="1206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464000" y="3221999"/>
            <a:ext cx="50400" cy="12060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26000" y="3311999"/>
            <a:ext cx="2970000" cy="965235"/>
          </a:xfrm>
          <a:prstGeom prst="rect">
            <a:avLst/>
          </a:prstGeom>
          <a:noFill/>
        </p:spPr>
        <p:txBody>
          <a:bodyPr wrap="square" lIns="18000" tIns="14400" rIns="18000" bIns="144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 dirty="0">
                <a:solidFill>
                  <a:srgbClr val="1F8E97"/>
                </a:solidFill>
                <a:latin typeface="Aptos"/>
              </a:rPr>
              <a:t>BD-1.3</a:t>
            </a:r>
          </a:p>
          <a:p>
            <a:pPr>
              <a:spcAft>
                <a:spcPts val="400"/>
              </a:spcAft>
            </a:pPr>
            <a:r>
              <a:rPr sz="1300" b="1" dirty="0" err="1">
                <a:solidFill>
                  <a:srgbClr val="1F4E78"/>
                </a:solidFill>
                <a:latin typeface="Aptos"/>
              </a:rPr>
              <a:t>Очищает</a:t>
            </a:r>
            <a:r>
              <a:rPr sz="13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300" b="1" dirty="0" err="1">
                <a:solidFill>
                  <a:srgbClr val="1F4E78"/>
                </a:solidFill>
                <a:latin typeface="Aptos"/>
              </a:rPr>
              <a:t>данные</a:t>
            </a:r>
            <a:endParaRPr sz="1300" b="1" dirty="0">
              <a:solidFill>
                <a:srgbClr val="1F4E78"/>
              </a:solidFill>
              <a:latin typeface="Aptos"/>
            </a:endParaRPr>
          </a:p>
          <a:p>
            <a:pPr>
              <a:spcAft>
                <a:spcPts val="0"/>
              </a:spcAft>
            </a:pPr>
            <a:r>
              <a:rPr sz="1000" dirty="0" err="1">
                <a:solidFill>
                  <a:srgbClr val="202D37"/>
                </a:solidFill>
                <a:latin typeface="Aptos"/>
              </a:rPr>
              <a:t>Выявляет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пропуски</a:t>
            </a:r>
            <a:r>
              <a:rPr sz="1000" dirty="0">
                <a:solidFill>
                  <a:srgbClr val="202D37"/>
                </a:solidFill>
                <a:latin typeface="Aptos"/>
              </a:rPr>
              <a:t>,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дубликаты</a:t>
            </a:r>
            <a:r>
              <a:rPr sz="1000" dirty="0">
                <a:solidFill>
                  <a:srgbClr val="202D37"/>
                </a:solidFill>
                <a:latin typeface="Aptos"/>
              </a:rPr>
              <a:t>,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выбросы</a:t>
            </a:r>
            <a:r>
              <a:rPr sz="1000" dirty="0">
                <a:solidFill>
                  <a:srgbClr val="202D37"/>
                </a:solidFill>
                <a:latin typeface="Aptos"/>
              </a:rPr>
              <a:t> и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ошибки</a:t>
            </a:r>
            <a:r>
              <a:rPr sz="1000" dirty="0">
                <a:solidFill>
                  <a:srgbClr val="202D37"/>
                </a:solidFill>
                <a:latin typeface="Aptos"/>
              </a:rPr>
              <a:t>;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обосновывает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выбранный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способ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обработки</a:t>
            </a:r>
            <a:r>
              <a:rPr sz="1000" dirty="0">
                <a:solidFill>
                  <a:srgbClr val="202D37"/>
                </a:solidFill>
                <a:latin typeface="Aptos"/>
              </a:rPr>
              <a:t>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64000" y="4607999"/>
            <a:ext cx="3276000" cy="1206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464000" y="4607999"/>
            <a:ext cx="50400" cy="12060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6000" y="4697999"/>
            <a:ext cx="2970000" cy="811347"/>
          </a:xfrm>
          <a:prstGeom prst="rect">
            <a:avLst/>
          </a:prstGeom>
          <a:noFill/>
        </p:spPr>
        <p:txBody>
          <a:bodyPr wrap="square" lIns="18000" tIns="14400" rIns="18000" bIns="144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 dirty="0">
                <a:solidFill>
                  <a:srgbClr val="1F8E97"/>
                </a:solidFill>
                <a:latin typeface="Aptos"/>
              </a:rPr>
              <a:t>BD-1.5</a:t>
            </a:r>
          </a:p>
          <a:p>
            <a:pPr>
              <a:spcAft>
                <a:spcPts val="400"/>
              </a:spcAft>
            </a:pPr>
            <a:r>
              <a:rPr sz="1300" b="1" dirty="0" err="1">
                <a:solidFill>
                  <a:srgbClr val="1F4E78"/>
                </a:solidFill>
                <a:latin typeface="Aptos"/>
              </a:rPr>
              <a:t>Формирует</a:t>
            </a:r>
            <a:r>
              <a:rPr sz="13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300" b="1" dirty="0" err="1">
                <a:solidFill>
                  <a:srgbClr val="1F4E78"/>
                </a:solidFill>
                <a:latin typeface="Aptos"/>
              </a:rPr>
              <a:t>признаки</a:t>
            </a:r>
            <a:endParaRPr sz="1300" b="1" dirty="0">
              <a:solidFill>
                <a:srgbClr val="1F4E78"/>
              </a:solidFill>
              <a:latin typeface="Aptos"/>
            </a:endParaRPr>
          </a:p>
          <a:p>
            <a:pPr>
              <a:spcAft>
                <a:spcPts val="0"/>
              </a:spcAft>
            </a:pPr>
            <a:r>
              <a:rPr sz="1000" dirty="0" err="1">
                <a:solidFill>
                  <a:srgbClr val="202D37"/>
                </a:solidFill>
                <a:latin typeface="Aptos"/>
              </a:rPr>
              <a:t>Отбирает</a:t>
            </a:r>
            <a:r>
              <a:rPr sz="1000" dirty="0">
                <a:solidFill>
                  <a:srgbClr val="202D37"/>
                </a:solidFill>
                <a:latin typeface="Aptos"/>
              </a:rPr>
              <a:t>,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преобразует</a:t>
            </a:r>
            <a:r>
              <a:rPr sz="1000" dirty="0">
                <a:solidFill>
                  <a:srgbClr val="202D37"/>
                </a:solidFill>
                <a:latin typeface="Aptos"/>
              </a:rPr>
              <a:t> и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создаёт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признаки</a:t>
            </a:r>
            <a:r>
              <a:rPr sz="1000" dirty="0">
                <a:solidFill>
                  <a:srgbClr val="202D37"/>
                </a:solidFill>
                <a:latin typeface="Aptos"/>
              </a:rPr>
              <a:t> с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учётом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содержания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прикладной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задачи</a:t>
            </a:r>
            <a:r>
              <a:rPr sz="1000" dirty="0">
                <a:solidFill>
                  <a:srgbClr val="202D37"/>
                </a:solidFill>
                <a:latin typeface="Aptos"/>
              </a:rPr>
              <a:t>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70000" y="1835998"/>
            <a:ext cx="3276000" cy="1206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370000" y="1835998"/>
            <a:ext cx="50400" cy="1206000"/>
          </a:xfrm>
          <a:prstGeom prst="rect">
            <a:avLst/>
          </a:prstGeom>
          <a:solidFill>
            <a:srgbClr val="E6A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32000" y="1925998"/>
            <a:ext cx="2988000" cy="965235"/>
          </a:xfrm>
          <a:prstGeom prst="rect">
            <a:avLst/>
          </a:prstGeom>
          <a:noFill/>
        </p:spPr>
        <p:txBody>
          <a:bodyPr wrap="square" lIns="18000" tIns="14400" rIns="18000" bIns="144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 dirty="0">
                <a:solidFill>
                  <a:srgbClr val="E6A337"/>
                </a:solidFill>
                <a:latin typeface="Aptos"/>
              </a:rPr>
              <a:t>ML-2.1</a:t>
            </a:r>
          </a:p>
          <a:p>
            <a:pPr>
              <a:spcAft>
                <a:spcPts val="400"/>
              </a:spcAft>
            </a:pPr>
            <a:r>
              <a:rPr sz="1300" b="1" dirty="0" err="1">
                <a:solidFill>
                  <a:srgbClr val="1F4E78"/>
                </a:solidFill>
                <a:latin typeface="Aptos"/>
              </a:rPr>
              <a:t>Выбирает</a:t>
            </a:r>
            <a:r>
              <a:rPr sz="13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300" b="1" dirty="0" err="1">
                <a:solidFill>
                  <a:srgbClr val="1F4E78"/>
                </a:solidFill>
                <a:latin typeface="Aptos"/>
              </a:rPr>
              <a:t>тип</a:t>
            </a:r>
            <a:r>
              <a:rPr sz="13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300" b="1" dirty="0" err="1">
                <a:solidFill>
                  <a:srgbClr val="1F4E78"/>
                </a:solidFill>
                <a:latin typeface="Aptos"/>
              </a:rPr>
              <a:t>задачи</a:t>
            </a:r>
            <a:r>
              <a:rPr sz="1300" b="1" dirty="0">
                <a:solidFill>
                  <a:srgbClr val="1F4E78"/>
                </a:solidFill>
                <a:latin typeface="Aptos"/>
              </a:rPr>
              <a:t> и </a:t>
            </a:r>
            <a:r>
              <a:rPr sz="1300" b="1" dirty="0" err="1">
                <a:solidFill>
                  <a:srgbClr val="1F4E78"/>
                </a:solidFill>
                <a:latin typeface="Aptos"/>
              </a:rPr>
              <a:t>модель</a:t>
            </a:r>
            <a:endParaRPr sz="1300" b="1" dirty="0">
              <a:solidFill>
                <a:srgbClr val="1F4E78"/>
              </a:solidFill>
              <a:latin typeface="Aptos"/>
            </a:endParaRPr>
          </a:p>
          <a:p>
            <a:pPr>
              <a:spcAft>
                <a:spcPts val="0"/>
              </a:spcAft>
            </a:pPr>
            <a:r>
              <a:rPr sz="1000" dirty="0" err="1">
                <a:solidFill>
                  <a:srgbClr val="202D37"/>
                </a:solidFill>
                <a:latin typeface="Aptos"/>
              </a:rPr>
              <a:t>Различает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регрессию</a:t>
            </a:r>
            <a:r>
              <a:rPr sz="1000" dirty="0">
                <a:solidFill>
                  <a:srgbClr val="202D37"/>
                </a:solidFill>
                <a:latin typeface="Aptos"/>
              </a:rPr>
              <a:t>,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классификацию</a:t>
            </a:r>
            <a:r>
              <a:rPr sz="1000" dirty="0">
                <a:solidFill>
                  <a:srgbClr val="202D37"/>
                </a:solidFill>
                <a:latin typeface="Aptos"/>
              </a:rPr>
              <a:t> и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кластеризацию</a:t>
            </a:r>
            <a:r>
              <a:rPr sz="1000" dirty="0">
                <a:solidFill>
                  <a:srgbClr val="202D37"/>
                </a:solidFill>
                <a:latin typeface="Aptos"/>
              </a:rPr>
              <a:t>;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строит</a:t>
            </a:r>
            <a:r>
              <a:rPr sz="1000" dirty="0">
                <a:solidFill>
                  <a:srgbClr val="202D37"/>
                </a:solidFill>
                <a:latin typeface="Aptos"/>
              </a:rPr>
              <a:t> baseline и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выбирает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подход</a:t>
            </a:r>
            <a:r>
              <a:rPr sz="1000" dirty="0">
                <a:solidFill>
                  <a:srgbClr val="202D37"/>
                </a:solidFill>
                <a:latin typeface="Aptos"/>
              </a:rPr>
              <a:t>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70000" y="3221999"/>
            <a:ext cx="3276000" cy="1206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370000" y="3221999"/>
            <a:ext cx="50400" cy="1206000"/>
          </a:xfrm>
          <a:prstGeom prst="rect">
            <a:avLst/>
          </a:prstGeom>
          <a:solidFill>
            <a:srgbClr val="E6A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32000" y="3311999"/>
            <a:ext cx="2988000" cy="811347"/>
          </a:xfrm>
          <a:prstGeom prst="rect">
            <a:avLst/>
          </a:prstGeom>
          <a:noFill/>
        </p:spPr>
        <p:txBody>
          <a:bodyPr wrap="square" lIns="18000" tIns="14400" rIns="18000" bIns="144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 dirty="0">
                <a:solidFill>
                  <a:srgbClr val="E6A337"/>
                </a:solidFill>
                <a:latin typeface="Aptos"/>
              </a:rPr>
              <a:t>ML-2.2</a:t>
            </a:r>
          </a:p>
          <a:p>
            <a:pPr>
              <a:spcAft>
                <a:spcPts val="400"/>
              </a:spcAft>
            </a:pPr>
            <a:r>
              <a:rPr sz="1300" b="1" dirty="0" err="1">
                <a:solidFill>
                  <a:srgbClr val="1F4E78"/>
                </a:solidFill>
                <a:latin typeface="Aptos"/>
              </a:rPr>
              <a:t>Готовит</a:t>
            </a:r>
            <a:r>
              <a:rPr sz="13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300" b="1" dirty="0" err="1">
                <a:solidFill>
                  <a:srgbClr val="1F4E78"/>
                </a:solidFill>
                <a:latin typeface="Aptos"/>
              </a:rPr>
              <a:t>данные</a:t>
            </a:r>
            <a:r>
              <a:rPr sz="1300" b="1" dirty="0">
                <a:solidFill>
                  <a:srgbClr val="1F4E78"/>
                </a:solidFill>
                <a:latin typeface="Aptos"/>
              </a:rPr>
              <a:t> к </a:t>
            </a:r>
            <a:r>
              <a:rPr sz="1300" b="1" dirty="0" err="1">
                <a:solidFill>
                  <a:srgbClr val="1F4E78"/>
                </a:solidFill>
                <a:latin typeface="Aptos"/>
              </a:rPr>
              <a:t>моделированию</a:t>
            </a:r>
            <a:endParaRPr sz="1300" b="1" dirty="0">
              <a:solidFill>
                <a:srgbClr val="1F4E78"/>
              </a:solidFill>
              <a:latin typeface="Aptos"/>
            </a:endParaRPr>
          </a:p>
          <a:p>
            <a:pPr>
              <a:spcAft>
                <a:spcPts val="0"/>
              </a:spcAft>
            </a:pPr>
            <a:r>
              <a:rPr sz="1000" dirty="0" err="1">
                <a:solidFill>
                  <a:srgbClr val="202D37"/>
                </a:solidFill>
                <a:latin typeface="Aptos"/>
              </a:rPr>
              <a:t>Применяет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кодирование</a:t>
            </a:r>
            <a:r>
              <a:rPr sz="1000" dirty="0">
                <a:solidFill>
                  <a:srgbClr val="202D37"/>
                </a:solidFill>
                <a:latin typeface="Aptos"/>
              </a:rPr>
              <a:t>,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масштабирование</a:t>
            </a:r>
            <a:r>
              <a:rPr sz="1000" dirty="0">
                <a:solidFill>
                  <a:srgbClr val="202D37"/>
                </a:solidFill>
                <a:latin typeface="Aptos"/>
              </a:rPr>
              <a:t>,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отбор</a:t>
            </a:r>
            <a:r>
              <a:rPr sz="1000" dirty="0">
                <a:solidFill>
                  <a:srgbClr val="202D37"/>
                </a:solidFill>
                <a:latin typeface="Aptos"/>
              </a:rPr>
              <a:t> и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создание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признаков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без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утечки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данных</a:t>
            </a:r>
            <a:r>
              <a:rPr sz="1000" dirty="0">
                <a:solidFill>
                  <a:srgbClr val="202D37"/>
                </a:solidFill>
                <a:latin typeface="Aptos"/>
              </a:rPr>
              <a:t>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70000" y="4607999"/>
            <a:ext cx="3276000" cy="1206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370000" y="4607999"/>
            <a:ext cx="50400" cy="1206000"/>
          </a:xfrm>
          <a:prstGeom prst="rect">
            <a:avLst/>
          </a:prstGeom>
          <a:solidFill>
            <a:srgbClr val="E6A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2000" y="4697999"/>
            <a:ext cx="2988000" cy="965235"/>
          </a:xfrm>
          <a:prstGeom prst="rect">
            <a:avLst/>
          </a:prstGeom>
          <a:noFill/>
        </p:spPr>
        <p:txBody>
          <a:bodyPr wrap="square" lIns="18000" tIns="14400" rIns="18000" bIns="144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 dirty="0">
                <a:solidFill>
                  <a:srgbClr val="E6A337"/>
                </a:solidFill>
                <a:latin typeface="Aptos"/>
              </a:rPr>
              <a:t>ML-2.3</a:t>
            </a:r>
          </a:p>
          <a:p>
            <a:pPr>
              <a:spcAft>
                <a:spcPts val="400"/>
              </a:spcAft>
            </a:pPr>
            <a:r>
              <a:rPr sz="1300" b="1" dirty="0" err="1">
                <a:solidFill>
                  <a:srgbClr val="1F4E78"/>
                </a:solidFill>
                <a:latin typeface="Aptos"/>
              </a:rPr>
              <a:t>Оценивает</a:t>
            </a:r>
            <a:r>
              <a:rPr sz="13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300" b="1" dirty="0" err="1">
                <a:solidFill>
                  <a:srgbClr val="1F4E78"/>
                </a:solidFill>
                <a:latin typeface="Aptos"/>
              </a:rPr>
              <a:t>качество</a:t>
            </a:r>
            <a:r>
              <a:rPr sz="13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300" b="1" dirty="0" err="1">
                <a:solidFill>
                  <a:srgbClr val="1F4E78"/>
                </a:solidFill>
                <a:latin typeface="Aptos"/>
              </a:rPr>
              <a:t>модели</a:t>
            </a:r>
            <a:endParaRPr sz="1300" b="1" dirty="0">
              <a:solidFill>
                <a:srgbClr val="1F4E78"/>
              </a:solidFill>
              <a:latin typeface="Aptos"/>
            </a:endParaRPr>
          </a:p>
          <a:p>
            <a:pPr>
              <a:spcAft>
                <a:spcPts val="0"/>
              </a:spcAft>
            </a:pPr>
            <a:r>
              <a:rPr sz="1000" dirty="0" err="1">
                <a:solidFill>
                  <a:srgbClr val="202D37"/>
                </a:solidFill>
                <a:latin typeface="Aptos"/>
              </a:rPr>
              <a:t>Выбирает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схему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валидации</a:t>
            </a:r>
            <a:r>
              <a:rPr sz="1000" dirty="0">
                <a:solidFill>
                  <a:srgbClr val="202D37"/>
                </a:solidFill>
                <a:latin typeface="Aptos"/>
              </a:rPr>
              <a:t> и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метрики</a:t>
            </a:r>
            <a:r>
              <a:rPr sz="1000" dirty="0">
                <a:solidFill>
                  <a:srgbClr val="202D37"/>
                </a:solidFill>
                <a:latin typeface="Aptos"/>
              </a:rPr>
              <a:t>,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анализирует</a:t>
            </a:r>
            <a:r>
              <a:rPr sz="1000" dirty="0">
                <a:solidFill>
                  <a:srgbClr val="202D37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переобучение</a:t>
            </a:r>
            <a:r>
              <a:rPr sz="1000" dirty="0">
                <a:solidFill>
                  <a:srgbClr val="202D37"/>
                </a:solidFill>
                <a:latin typeface="Aptos"/>
              </a:rPr>
              <a:t>,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ошибки</a:t>
            </a:r>
            <a:r>
              <a:rPr sz="1000" dirty="0">
                <a:solidFill>
                  <a:srgbClr val="202D37"/>
                </a:solidFill>
                <a:latin typeface="Aptos"/>
              </a:rPr>
              <a:t> и </a:t>
            </a:r>
            <a:r>
              <a:rPr sz="1000" dirty="0" err="1">
                <a:solidFill>
                  <a:srgbClr val="202D37"/>
                </a:solidFill>
                <a:latin typeface="Aptos"/>
              </a:rPr>
              <a:t>ограничения</a:t>
            </a:r>
            <a:r>
              <a:rPr sz="1000" dirty="0">
                <a:solidFill>
                  <a:srgbClr val="202D37"/>
                </a:solidFill>
                <a:latin typeface="Apto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6000" y="6588000"/>
            <a:ext cx="7200000" cy="125999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Прикладной анализ данных · проект дисциплины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96000" y="6588000"/>
            <a:ext cx="503999" cy="125999"/>
          </a:xfrm>
          <a:prstGeom prst="rect">
            <a:avLst/>
          </a:prstGeom>
          <a:noFill/>
        </p:spPr>
        <p:txBody>
          <a:bodyPr wrap="none" lIns="28800" tIns="0" rIns="2880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000" y="162000"/>
            <a:ext cx="7200000" cy="16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75B5"/>
                </a:solidFill>
                <a:latin typeface="Aptos"/>
              </a:rPr>
              <a:t>СТРУКТУРА ДИСЦИПЛИНЫ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342000"/>
            <a:ext cx="10620000" cy="43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4E78"/>
                </a:solidFill>
                <a:latin typeface="Aptos"/>
              </a:rPr>
              <a:t>Тематический план · часть 1</a:t>
            </a:r>
          </a:p>
        </p:txBody>
      </p:sp>
      <p:sp>
        <p:nvSpPr>
          <p:cNvPr id="4" name="Rectangle 3"/>
          <p:cNvSpPr/>
          <p:nvPr/>
        </p:nvSpPr>
        <p:spPr>
          <a:xfrm>
            <a:off x="396000" y="737999"/>
            <a:ext cx="11304000" cy="25200"/>
          </a:xfrm>
          <a:prstGeom prst="rect">
            <a:avLst/>
          </a:prstGeom>
          <a:solidFill>
            <a:srgbClr val="E4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88000" y="846000"/>
          <a:ext cx="10800000" cy="55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Элемент дисциплины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Содержание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(тематические сущности)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Форма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занятия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Объём,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а.ч.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Компетенция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Индикатор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Уровень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Модуль 1. Постановка прикладной задачи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Проблема, цель, стейкхолдеры, критерии успешности; полный цикл CRISP-DM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2/4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LC-1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Предметная и аналитическая постановка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 dirty="0" err="1">
                          <a:solidFill>
                            <a:srgbClr val="202D37"/>
                          </a:solidFill>
                          <a:latin typeface="Aptos"/>
                        </a:rPr>
                        <a:t>Цель</a:t>
                      </a:r>
                      <a:r>
                        <a:rPr sz="819" b="0" dirty="0">
                          <a:solidFill>
                            <a:srgbClr val="202D37"/>
                          </a:solidFill>
                          <a:latin typeface="Aptos"/>
                        </a:rPr>
                        <a:t>, </a:t>
                      </a:r>
                      <a:r>
                        <a:rPr sz="819" b="0" dirty="0" err="1">
                          <a:solidFill>
                            <a:srgbClr val="202D37"/>
                          </a:solidFill>
                          <a:latin typeface="Aptos"/>
                        </a:rPr>
                        <a:t>задачи</a:t>
                      </a:r>
                      <a:r>
                        <a:rPr sz="819" b="0" dirty="0">
                          <a:solidFill>
                            <a:srgbClr val="202D37"/>
                          </a:solidFill>
                          <a:latin typeface="Aptos"/>
                        </a:rPr>
                        <a:t>, </a:t>
                      </a:r>
                      <a:r>
                        <a:rPr sz="819" b="0" dirty="0" err="1">
                          <a:solidFill>
                            <a:srgbClr val="202D37"/>
                          </a:solidFill>
                          <a:latin typeface="Aptos"/>
                        </a:rPr>
                        <a:t>ограничения</a:t>
                      </a:r>
                      <a:r>
                        <a:rPr sz="819" b="0" dirty="0">
                          <a:solidFill>
                            <a:srgbClr val="202D37"/>
                          </a:solidFill>
                          <a:latin typeface="Aptos"/>
                        </a:rPr>
                        <a:t>, </a:t>
                      </a:r>
                      <a:r>
                        <a:rPr sz="819" b="0" dirty="0" err="1">
                          <a:solidFill>
                            <a:srgbClr val="202D37"/>
                          </a:solidFill>
                          <a:latin typeface="Aptos"/>
                        </a:rPr>
                        <a:t>пользователи</a:t>
                      </a:r>
                      <a:r>
                        <a:rPr sz="819" b="0" dirty="0">
                          <a:solidFill>
                            <a:srgbClr val="202D37"/>
                          </a:solidFill>
                          <a:latin typeface="Aptos"/>
                        </a:rPr>
                        <a:t> </a:t>
                      </a:r>
                      <a:r>
                        <a:rPr sz="819" b="0" dirty="0" err="1">
                          <a:solidFill>
                            <a:srgbClr val="202D37"/>
                          </a:solidFill>
                          <a:latin typeface="Aptos"/>
                        </a:rPr>
                        <a:t>результата</a:t>
                      </a:r>
                      <a:r>
                        <a:rPr sz="819" b="0" dirty="0">
                          <a:solidFill>
                            <a:srgbClr val="202D37"/>
                          </a:solidFill>
                          <a:latin typeface="Aptos"/>
                        </a:rPr>
                        <a:t>, </a:t>
                      </a:r>
                      <a:r>
                        <a:rPr sz="819" b="0" dirty="0" err="1">
                          <a:solidFill>
                            <a:srgbClr val="202D37"/>
                          </a:solidFill>
                          <a:latin typeface="Aptos"/>
                        </a:rPr>
                        <a:t>метрики</a:t>
                      </a:r>
                      <a:r>
                        <a:rPr sz="819" b="0" dirty="0">
                          <a:solidFill>
                            <a:srgbClr val="202D37"/>
                          </a:solidFill>
                          <a:latin typeface="Aptos"/>
                        </a:rPr>
                        <a:t> </a:t>
                      </a:r>
                      <a:r>
                        <a:rPr sz="819" b="0" dirty="0" err="1">
                          <a:solidFill>
                            <a:srgbClr val="202D37"/>
                          </a:solidFill>
                          <a:latin typeface="Aptos"/>
                        </a:rPr>
                        <a:t>успеха</a:t>
                      </a:r>
                      <a:endParaRPr sz="819" b="0" dirty="0">
                        <a:solidFill>
                          <a:srgbClr val="202D37"/>
                        </a:solidFill>
                        <a:latin typeface="Aptos"/>
                      </a:endParaRP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2/2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LC-1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Паспорт проекта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Формализация кейса и требований к данным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П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LC-1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Модуль 2. Понимание и исследование данных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Источники, качество, описательная статистика, визуализация и EDA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4/6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BD-1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1.2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Источники и паспорт данных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Гранулярность, словарь, происхождение и первичный аудит данных в Python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2/2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BD-1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1.2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Разведочный анализ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Распределения, связи признаков, визуализация и проверка гипотез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2/4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BD-1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1.2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Модуль 3. Подготовка данных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Очистка, преобразование, признаки и предотвращение утечки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2/8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BD-1; ML-2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1.3, 1.5; 2.2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Пайплайн подготовки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Пропуски, выбросы, категории, масштабирование, отбор и создание признаков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П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BD-1; ML-2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1.3, 1.5; 2.2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 dirty="0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96000" y="6588000"/>
            <a:ext cx="7200000" cy="125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Прикладной анализ данных · проект дисциплины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96000" y="6588000"/>
            <a:ext cx="503999" cy="125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000" y="162000"/>
            <a:ext cx="7200000" cy="16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75B5"/>
                </a:solidFill>
                <a:latin typeface="Aptos"/>
              </a:rPr>
              <a:t>СТРУКТУРА ДИСЦИПЛИНЫ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342000"/>
            <a:ext cx="10620000" cy="43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4E78"/>
                </a:solidFill>
                <a:latin typeface="Aptos"/>
              </a:rPr>
              <a:t>Тематический план · часть 2</a:t>
            </a:r>
          </a:p>
        </p:txBody>
      </p:sp>
      <p:sp>
        <p:nvSpPr>
          <p:cNvPr id="4" name="Rectangle 3"/>
          <p:cNvSpPr/>
          <p:nvPr/>
        </p:nvSpPr>
        <p:spPr>
          <a:xfrm>
            <a:off x="396000" y="737999"/>
            <a:ext cx="11304000" cy="25200"/>
          </a:xfrm>
          <a:prstGeom prst="rect">
            <a:avLst/>
          </a:prstGeom>
          <a:solidFill>
            <a:srgbClr val="E4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763051"/>
              </p:ext>
            </p:extLst>
          </p:nvPr>
        </p:nvGraphicFramePr>
        <p:xfrm>
          <a:off x="288000" y="846000"/>
          <a:ext cx="10800000" cy="55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Элемент дисциплины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Содержание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(тематические сущности)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Форма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занятия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Объём,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а.ч.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Компетенция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Индикатор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Уровень</a:t>
                      </a:r>
                    </a:p>
                  </a:txBody>
                  <a:tcPr marL="32400" marR="32400" marT="18000" marB="18000" anchor="ctr"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Модуль 4. Моделирование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 dirty="0" err="1">
                          <a:solidFill>
                            <a:srgbClr val="202D37"/>
                          </a:solidFill>
                          <a:latin typeface="Aptos"/>
                        </a:rPr>
                        <a:t>Типы</a:t>
                      </a:r>
                      <a:r>
                        <a:rPr sz="819" b="1" dirty="0">
                          <a:solidFill>
                            <a:srgbClr val="202D37"/>
                          </a:solidFill>
                          <a:latin typeface="Aptos"/>
                        </a:rPr>
                        <a:t> </a:t>
                      </a:r>
                      <a:r>
                        <a:rPr sz="819" b="1" dirty="0" err="1">
                          <a:solidFill>
                            <a:srgbClr val="202D37"/>
                          </a:solidFill>
                          <a:latin typeface="Aptos"/>
                        </a:rPr>
                        <a:t>задач</a:t>
                      </a:r>
                      <a:r>
                        <a:rPr sz="819" b="1" dirty="0">
                          <a:solidFill>
                            <a:srgbClr val="202D37"/>
                          </a:solidFill>
                          <a:latin typeface="Aptos"/>
                        </a:rPr>
                        <a:t>, </a:t>
                      </a:r>
                      <a:r>
                        <a:rPr sz="819" b="1" dirty="0" err="1">
                          <a:solidFill>
                            <a:srgbClr val="202D37"/>
                          </a:solidFill>
                          <a:latin typeface="Aptos"/>
                        </a:rPr>
                        <a:t>регрессия</a:t>
                      </a:r>
                      <a:r>
                        <a:rPr sz="819" b="1" dirty="0">
                          <a:solidFill>
                            <a:srgbClr val="202D37"/>
                          </a:solidFill>
                          <a:latin typeface="Aptos"/>
                        </a:rPr>
                        <a:t>, </a:t>
                      </a:r>
                      <a:r>
                        <a:rPr sz="819" b="1" dirty="0" err="1">
                          <a:solidFill>
                            <a:srgbClr val="202D37"/>
                          </a:solidFill>
                          <a:latin typeface="Aptos"/>
                        </a:rPr>
                        <a:t>классификация</a:t>
                      </a:r>
                      <a:r>
                        <a:rPr sz="819" b="1" dirty="0">
                          <a:solidFill>
                            <a:srgbClr val="202D37"/>
                          </a:solidFill>
                          <a:latin typeface="Aptos"/>
                        </a:rPr>
                        <a:t>, </a:t>
                      </a:r>
                      <a:r>
                        <a:rPr sz="819" b="1" dirty="0" err="1">
                          <a:solidFill>
                            <a:srgbClr val="202D37"/>
                          </a:solidFill>
                          <a:latin typeface="Aptos"/>
                        </a:rPr>
                        <a:t>кластеризация</a:t>
                      </a:r>
                      <a:endParaRPr sz="819" b="1" dirty="0">
                        <a:solidFill>
                          <a:srgbClr val="202D37"/>
                        </a:solidFill>
                        <a:latin typeface="Aptos"/>
                      </a:endParaRP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4/8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ML-2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2.1, 2.2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 dirty="0" err="1">
                          <a:solidFill>
                            <a:srgbClr val="202D37"/>
                          </a:solidFill>
                          <a:latin typeface="Aptos"/>
                        </a:rPr>
                        <a:t>Тип</a:t>
                      </a:r>
                      <a:r>
                        <a:rPr sz="819" b="0" dirty="0">
                          <a:solidFill>
                            <a:srgbClr val="202D37"/>
                          </a:solidFill>
                          <a:latin typeface="Aptos"/>
                        </a:rPr>
                        <a:t> </a:t>
                      </a:r>
                      <a:r>
                        <a:rPr sz="819" b="0" dirty="0" err="1">
                          <a:solidFill>
                            <a:srgbClr val="202D37"/>
                          </a:solidFill>
                          <a:latin typeface="Aptos"/>
                        </a:rPr>
                        <a:t>задачи</a:t>
                      </a:r>
                      <a:endParaRPr sz="819" b="0" dirty="0">
                        <a:solidFill>
                          <a:srgbClr val="202D37"/>
                        </a:solidFill>
                        <a:latin typeface="Aptos"/>
                      </a:endParaRP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Выбор постановки и построение простого базового решения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2/2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ML-2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2.1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Модели и интерпретация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Линейные модели, деревья, ансамбли, сегментация и объяснение результата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2/6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ML-2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2.1, 2.2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Модуль 5. Оценка результатов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Разбиение, кросс-валидация, метрики, дисбаланс и анализ ошибок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2/4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ML-2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2.3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Валидация и сравнение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Выбор метрики, анализ переобучения, ошибок и неопределённости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Л/П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2/4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ML-2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2.3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Модуль 6. Аналитический продукт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Визуализация, ограничения, этика, рекомендации и план применения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Л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LC-1; BD-1; ML-2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1.1; 1.2; 2.3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85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Дифференцированный зачёт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Защита сквозного аналитического проекта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ДЗ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LC-1; BD-1; ML-2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>
                          <a:solidFill>
                            <a:srgbClr val="202D37"/>
                          </a:solidFill>
                          <a:latin typeface="Aptos"/>
                        </a:rPr>
                        <a:t>1.1; 1.2–1.5; 2.1–2.3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819" b="0" dirty="0">
                          <a:solidFill>
                            <a:srgbClr val="202D37"/>
                          </a:solidFill>
                          <a:latin typeface="Aptos"/>
                        </a:rPr>
                        <a:t>С</a:t>
                      </a:r>
                    </a:p>
                  </a:txBody>
                  <a:tcPr marL="32400" marR="324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96000" y="6588000"/>
            <a:ext cx="7200000" cy="125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Прикладной анализ данных · проект дисциплины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96000" y="6588000"/>
            <a:ext cx="503999" cy="125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000" y="162000"/>
            <a:ext cx="7200000" cy="16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75B5"/>
                </a:solidFill>
                <a:latin typeface="Aptos"/>
              </a:rPr>
              <a:t>ИТОГ ДИСЦИПЛИНЫ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342000"/>
            <a:ext cx="10620000" cy="432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4E78"/>
                </a:solidFill>
                <a:latin typeface="Aptos"/>
              </a:rPr>
              <a:t>Результат и оценивание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96000" y="737999"/>
            <a:ext cx="11304000" cy="25200"/>
          </a:xfrm>
          <a:prstGeom prst="rect">
            <a:avLst/>
          </a:prstGeom>
          <a:solidFill>
            <a:srgbClr val="E4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96000" y="972000"/>
            <a:ext cx="4320000" cy="414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4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96000" y="972000"/>
            <a:ext cx="57600" cy="4140000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5198" y="1072800"/>
            <a:ext cx="4068001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dirty="0" err="1">
                <a:solidFill>
                  <a:srgbClr val="1F4E78"/>
                </a:solidFill>
                <a:latin typeface="Aptos"/>
              </a:rPr>
              <a:t>Итоговый</a:t>
            </a:r>
            <a:r>
              <a:rPr sz="1800" b="1" dirty="0">
                <a:solidFill>
                  <a:srgbClr val="1F4E78"/>
                </a:solidFill>
                <a:latin typeface="Aptos"/>
              </a:rPr>
              <a:t> </a:t>
            </a:r>
            <a:r>
              <a:rPr sz="1800" b="1" dirty="0" err="1">
                <a:solidFill>
                  <a:srgbClr val="1F4E78"/>
                </a:solidFill>
                <a:latin typeface="Aptos"/>
              </a:rPr>
              <a:t>результат</a:t>
            </a:r>
            <a:endParaRPr sz="1800" b="1" dirty="0">
              <a:solidFill>
                <a:srgbClr val="1F4E78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0000" y="1332000"/>
            <a:ext cx="4068001" cy="3708000"/>
          </a:xfrm>
          <a:prstGeom prst="rect">
            <a:avLst/>
          </a:prstGeom>
          <a:noFill/>
        </p:spPr>
        <p:txBody>
          <a:bodyPr wrap="none" lIns="54000" tIns="28800" rIns="54000" bIns="288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D37"/>
                </a:solidFill>
                <a:latin typeface="Aptos"/>
              </a:rPr>
              <a:t>Сквозной аналитический проект:
• паспорт задачи и данных
• воспроизводимый код
• EDA и проверка гипотез
• baseline и альтернативные модели
• валидация и анализ ошибок
• выводы и рекомендации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0000" y="1007999"/>
            <a:ext cx="432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D37"/>
                </a:solidFill>
                <a:latin typeface="Aptos"/>
              </a:rPr>
              <a:t>Постановка и данные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0" y="1007999"/>
            <a:ext cx="90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10%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20000" y="1295999"/>
            <a:ext cx="2340000" cy="576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20000" y="1601999"/>
            <a:ext cx="432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D37"/>
                </a:solidFill>
                <a:latin typeface="Aptos"/>
              </a:rPr>
              <a:t>EDA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20000" y="1601999"/>
            <a:ext cx="90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15%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20000" y="1889999"/>
            <a:ext cx="3510000" cy="576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20000" y="2196000"/>
            <a:ext cx="432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D37"/>
                </a:solidFill>
                <a:latin typeface="Aptos"/>
              </a:rPr>
              <a:t>Подготовка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0000" y="2196000"/>
            <a:ext cx="90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15%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20000" y="2484000"/>
            <a:ext cx="3510000" cy="576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0" y="2790000"/>
            <a:ext cx="432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D37"/>
                </a:solidFill>
                <a:latin typeface="Aptos"/>
              </a:rPr>
              <a:t>Моделирование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0" y="2790000"/>
            <a:ext cx="90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20%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20000" y="3078000"/>
            <a:ext cx="4680000" cy="57600"/>
          </a:xfrm>
          <a:prstGeom prst="rect">
            <a:avLst/>
          </a:prstGeom>
          <a:solidFill>
            <a:srgbClr val="E6A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20000" y="3384000"/>
            <a:ext cx="432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D37"/>
                </a:solidFill>
                <a:latin typeface="Aptos"/>
              </a:rPr>
              <a:t>Валидация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0000" y="3384000"/>
            <a:ext cx="90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15%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0000" y="3672000"/>
            <a:ext cx="3510000" cy="576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20000" y="3978000"/>
            <a:ext cx="432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D37"/>
                </a:solidFill>
                <a:latin typeface="Aptos"/>
              </a:rPr>
              <a:t>Итоговый продукт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00" y="3978000"/>
            <a:ext cx="90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15%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20000" y="4266000"/>
            <a:ext cx="3510000" cy="576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20000" y="4572000"/>
            <a:ext cx="432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D37"/>
                </a:solidFill>
                <a:latin typeface="Aptos"/>
              </a:rPr>
              <a:t>Защита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00" y="4572000"/>
            <a:ext cx="900000" cy="251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10%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20000" y="4860000"/>
            <a:ext cx="2340000" cy="57600"/>
          </a:xfrm>
          <a:prstGeom prst="rect">
            <a:avLst/>
          </a:prstGeom>
          <a:solidFill>
            <a:srgbClr val="1F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220000" y="5472000"/>
            <a:ext cx="5940000" cy="396000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4E78"/>
                </a:solidFill>
                <a:latin typeface="Aptos"/>
              </a:rPr>
              <a:t>Форма аттестации: дифференцированный зачёт с индивидуальной защитой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6000" y="6588000"/>
            <a:ext cx="7200000" cy="125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Прикладной анализ данных · проект дисциплины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96000" y="6588000"/>
            <a:ext cx="503999" cy="125999"/>
          </a:xfrm>
          <a:prstGeom prst="rect">
            <a:avLst/>
          </a:prstGeom>
          <a:noFill/>
        </p:spPr>
        <p:txBody>
          <a:bodyPr wrap="none" lIns="54000" tIns="28800" rIns="54000" bIns="2880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64707A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888</Words>
  <Application>Microsoft Office PowerPoint</Application>
  <PresentationFormat>Широкоэкранный</PresentationFormat>
  <Paragraphs>236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Прикладной анализ данных</dc:title>
  <dc:subject>Краткая презентация проекта дисциплины</dc:subject>
  <dc:creator>Рабочая группа разработчиков дисциплины</dc:creator>
  <cp:keywords/>
  <dc:description>generated using python-pptx</dc:description>
  <cp:lastModifiedBy>Дмитрий Рубцов</cp:lastModifiedBy>
  <cp:revision>1</cp:revision>
  <dcterms:created xsi:type="dcterms:W3CDTF">2013-01-27T09:14:16Z</dcterms:created>
  <dcterms:modified xsi:type="dcterms:W3CDTF">2026-07-15T08:27:22Z</dcterms:modified>
  <cp:category/>
</cp:coreProperties>
</file>