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a97b17710441f7" /><Relationship Type="http://schemas.openxmlformats.org/officeDocument/2006/relationships/extended-properties" Target="/docProps/app.xml" Id="R30c1f45845b341db" /><Relationship Type="http://schemas.openxmlformats.org/officeDocument/2006/relationships/officeDocument" Target="/ppt/presentation.xml" Id="R7098a3882b614e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f3f896e9154a14"/>
  </p:sldMasterIdLst>
  <p:notesMasterIdLst>
    <p:notesMasterId xmlns:r="http://schemas.openxmlformats.org/officeDocument/2006/relationships" r:id="R11042141b28441dd"/>
  </p:notesMasterIdLst>
  <p:sldIdLst>
    <p:sldId xmlns:r="http://schemas.openxmlformats.org/officeDocument/2006/relationships" id="256" r:id="R2ac316849b824ae4"/>
    <p:sldId xmlns:r="http://schemas.openxmlformats.org/officeDocument/2006/relationships" id="257" r:id="R9bf210ce6f814561"/>
    <p:sldId xmlns:r="http://schemas.openxmlformats.org/officeDocument/2006/relationships" id="258" r:id="R76e5a0f7618a4c55"/>
    <p:sldId xmlns:r="http://schemas.openxmlformats.org/officeDocument/2006/relationships" id="259" r:id="Rf41bb2cca9db4bb9"/>
    <p:sldId xmlns:r="http://schemas.openxmlformats.org/officeDocument/2006/relationships" id="260" r:id="R4a53da056c804312"/>
    <p:sldId xmlns:r="http://schemas.openxmlformats.org/officeDocument/2006/relationships" id="261" r:id="R6a32b943e51d4313"/>
    <p:sldId xmlns:r="http://schemas.openxmlformats.org/officeDocument/2006/relationships" id="262" r:id="Ra87c81a16c444023"/>
    <p:sldId xmlns:r="http://schemas.openxmlformats.org/officeDocument/2006/relationships" id="263" r:id="Rc9d0b0d2b7a4449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ce5bb9fa1b4509" /><Relationship Type="http://schemas.openxmlformats.org/officeDocument/2006/relationships/slideMaster" Target="/ppt/slideMasters/slideMaster1.xml" Id="R4ef3f896e9154a14" /><Relationship Type="http://schemas.openxmlformats.org/officeDocument/2006/relationships/notesMaster" Target="/ppt/notesMasters/notesMaster1.xml" Id="R11042141b28441dd" /><Relationship Type="http://schemas.openxmlformats.org/officeDocument/2006/relationships/presProps" Target="/ppt/presProps.xml" Id="Rd42a67f9dcf74af3" /><Relationship Type="http://schemas.openxmlformats.org/officeDocument/2006/relationships/viewProps" Target="/ppt/viewProps.xml" Id="R190e2b4406ca428e" /><Relationship Type="http://schemas.openxmlformats.org/officeDocument/2006/relationships/tableStyles" Target="/ppt/tableStyles.xml" Id="R29b0adfda9b248c1" /><Relationship Type="http://schemas.openxmlformats.org/officeDocument/2006/relationships/slide" Target="/ppt/slides/slide1.xml" Id="R2ac316849b824ae4" /><Relationship Type="http://schemas.openxmlformats.org/officeDocument/2006/relationships/slide" Target="/ppt/slides/slide2.xml" Id="R9bf210ce6f814561" /><Relationship Type="http://schemas.openxmlformats.org/officeDocument/2006/relationships/slide" Target="/ppt/slides/slide3.xml" Id="R76e5a0f7618a4c55" /><Relationship Type="http://schemas.openxmlformats.org/officeDocument/2006/relationships/slide" Target="/ppt/slides/slide4.xml" Id="Rf41bb2cca9db4bb9" /><Relationship Type="http://schemas.openxmlformats.org/officeDocument/2006/relationships/slide" Target="/ppt/slides/slide5.xml" Id="R4a53da056c804312" /><Relationship Type="http://schemas.openxmlformats.org/officeDocument/2006/relationships/slide" Target="/ppt/slides/slide6.xml" Id="R6a32b943e51d4313" /><Relationship Type="http://schemas.openxmlformats.org/officeDocument/2006/relationships/slide" Target="/ppt/slides/slide7.xml" Id="Ra87c81a16c444023" /><Relationship Type="http://schemas.openxmlformats.org/officeDocument/2006/relationships/slide" Target="/ppt/slides/slide8.xml" Id="Rc9d0b0d2b7a444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2b104fac0749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de7b23e075492c" /><Relationship Type="http://schemas.openxmlformats.org/officeDocument/2006/relationships/notesMaster" Target="/ppt/notesMasters/notesMaster1.xml" Id="R467246ca5a404e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4620e4747d466d" /><Relationship Type="http://schemas.openxmlformats.org/officeDocument/2006/relationships/notesMaster" Target="/ppt/notesMasters/notesMaster1.xml" Id="R7d70c8de9b9143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6ae3ce17e048bf" /><Relationship Type="http://schemas.openxmlformats.org/officeDocument/2006/relationships/notesMaster" Target="/ppt/notesMasters/notesMaster1.xml" Id="R90d68f1a299b40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9a465dfb3f4d94" /><Relationship Type="http://schemas.openxmlformats.org/officeDocument/2006/relationships/notesMaster" Target="/ppt/notesMasters/notesMaster1.xml" Id="Rc6c6d7786d9b41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0c239debac455a" /><Relationship Type="http://schemas.openxmlformats.org/officeDocument/2006/relationships/notesMaster" Target="/ppt/notesMasters/notesMaster1.xml" Id="R22cdae809a634ca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4322bc750944b2" /><Relationship Type="http://schemas.openxmlformats.org/officeDocument/2006/relationships/notesMaster" Target="/ppt/notesMasters/notesMaster1.xml" Id="Re54dcfb2269941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48cf4b8fd1447ce" /><Relationship Type="http://schemas.openxmlformats.org/officeDocument/2006/relationships/notesMaster" Target="/ppt/notesMasters/notesMaster1.xml" Id="Radd579d1a7f44a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20eb43eed74f30" /><Relationship Type="http://schemas.openxmlformats.org/officeDocument/2006/relationships/notesMaster" Target="/ppt/notesMasters/notesMaster1.xml" Id="R63ce0eb7188640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a7d9f536fa4ae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9258b52fd44eb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8a98e130ba479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f670ad174b40d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9e0d3e2b094de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13e52e9d3940b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1534a0f0ff437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4748f77f47404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1d88e04a5b454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598e503e934bf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5d3ac97c5541e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633334-B22A-4277-8613-8C1F10FBB35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C555593-91FA-4790-984A-39F0A6066B0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3ED093-75E0-4F44-92E7-63AF542BAC0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7/15/2026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6BEC404-D6E1-4899-B128-E157EA28A3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E4348D-C6CD-4772-AD3E-F3445ACEB3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8F8BBF-C7EB-466E-AE94-3C6A34A84D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D15B637-6A2C-4B10-BA7D-48A4CA6A34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7F3446-57AC-473D-BD94-BC72A8F5C55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7/15/2026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CFFA0C-DC14-425F-A77A-FD29DE9935C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ED8FE14-79F8-430D-8330-4106FF4304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1BD905-6B0D-426F-99CD-6905CA5165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BF102A-B351-4A50-A69A-11582D9AAE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9F4865F-4BBA-4D67-A786-C64BED7056E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7/15/2026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F9C378-30D2-48AF-96B7-3B5B728915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91DD9F-5F3E-4E63-9DCF-A4DA933E23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6226D7-C713-4FC6-BC3F-958D0D61A9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CF4856-BEBB-415B-B6A1-9C7278E1DC0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A05A716-F95D-402A-826F-F3DD8A8CCAF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468CB32-D84E-46E8-9363-B0BE4CE8CB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7/15/2026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949DB4D-2FAF-4044-8E18-4DC0929118A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BD2053F-C77D-40D1-8191-FFA6FDDBB8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4CECB7D-580E-4FD8-A421-1776B36464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E897BC-00FE-4759-83C8-7D82623C28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258C317-B6BB-4488-98BA-974629CF1D2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791695-011B-498F-866E-F21AF0A0DCF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839CAA6-4984-4392-9079-6D8DE5E4463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7B58C4-2A99-4BC5-AC67-FAF55C4A167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7/15/2026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E2DE720-A768-4425-9227-C292279260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D51AC2-D3B1-40ED-9FDB-D31D0FD752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1BA890-536F-4DDB-899C-8C4E62EFE2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9577FFF-562E-47C3-B67D-2FD038942B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7/15/2026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DD8B04D-7A15-4DF8-B7F0-2F3ADC0DD2C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0A6F448-3BE9-4978-B7E6-8127AA9496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A4F6960-0E33-4A3B-8DEC-AA0443FD16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7/15/2026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3CD40C0-F1C9-4B23-98BC-A9C9A7B928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336C50E-6C8B-4E0E-9350-DEB4345816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5DA65F-1F3E-43E9-B222-4DC4E0A7BE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661A70E-31EC-4925-93DE-A302E07C624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27FB116-F299-4413-B0DE-9F24CDDAABB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61D6EE-F1C0-41CB-BB83-704E379F28C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7/15/2026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44DD87-2CF2-43B5-A3E3-08B48FF0D7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A07C1DF-2894-4D70-A57A-181E118B07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98F27B-F07A-46E0-A2D3-A16C3FEFE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9F7261E-ABA3-4907-B428-3F4D8CD0FA6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5674E-A11F-4AD4-B264-97B891AAC7C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00B8E5E-2B33-45D1-ABBE-BCD4601B81A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7/15/2026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1E176F6-C3A7-4ACA-BB43-8545FD2989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95ABE00-9531-4A93-8D53-E3CAAADBB1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D1A63CC-16D0-4DD3-A850-87CB998969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FF25AB4-29E8-40B8-BCC4-1CD7B7ACF7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97DA44-A9FC-49FE-8B43-5BC9AA74C5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7/15/2026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0E2265-763F-43E7-8674-29032AE772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169E30B-20B0-4B86-8D96-4304242B10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497FF6F-28B2-467B-A6A8-1FAC4D635B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2D89797-B68B-46D8-BCA3-C866390B8E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5F9457A-2EF9-45CD-90D8-9C80B81377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7/15/2026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24D2C7D-ED8F-40B8-A8CC-DA9D83ACE8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0BBE0ED-E7DD-4BDB-941E-85F9E970F2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53cda9a5384757" /><Relationship Type="http://schemas.openxmlformats.org/officeDocument/2006/relationships/slideLayout" Target="/ppt/slideLayouts/slideLayout1.xml" Id="R8161027549ad4636" /><Relationship Type="http://schemas.openxmlformats.org/officeDocument/2006/relationships/slideLayout" Target="/ppt/slideLayouts/slideLayout2.xml" Id="Rbc8fc06e89474604" /><Relationship Type="http://schemas.openxmlformats.org/officeDocument/2006/relationships/slideLayout" Target="/ppt/slideLayouts/slideLayout3.xml" Id="R49842714f82140b7" /><Relationship Type="http://schemas.openxmlformats.org/officeDocument/2006/relationships/slideLayout" Target="/ppt/slideLayouts/slideLayout4.xml" Id="Rc9463c864ce948dc" /><Relationship Type="http://schemas.openxmlformats.org/officeDocument/2006/relationships/slideLayout" Target="/ppt/slideLayouts/slideLayout5.xml" Id="R7fb3c2299c8a4826" /><Relationship Type="http://schemas.openxmlformats.org/officeDocument/2006/relationships/slideLayout" Target="/ppt/slideLayouts/slideLayout6.xml" Id="R54671e5191ed45cb" /><Relationship Type="http://schemas.openxmlformats.org/officeDocument/2006/relationships/slideLayout" Target="/ppt/slideLayouts/slideLayout7.xml" Id="R0dca9fc27139455a" /><Relationship Type="http://schemas.openxmlformats.org/officeDocument/2006/relationships/slideLayout" Target="/ppt/slideLayouts/slideLayout8.xml" Id="R7d67acdf00b24c9a" /><Relationship Type="http://schemas.openxmlformats.org/officeDocument/2006/relationships/slideLayout" Target="/ppt/slideLayouts/slideLayout9.xml" Id="R2ab6cab818eb4aa7" /><Relationship Type="http://schemas.openxmlformats.org/officeDocument/2006/relationships/slideLayout" Target="/ppt/slideLayouts/slideLayout10.xml" Id="R7739865dff5846d4" /><Relationship Type="http://schemas.openxmlformats.org/officeDocument/2006/relationships/slideLayout" Target="/ppt/slideLayouts/slideLayout11.xml" Id="R56ec6195da8946d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5D53B8E-1F68-45C6-ACE8-629A48124F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3DB4B35-AB27-4B41-8EDE-6B8CEE2BF0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EB88326-2FF4-42DF-BDF7-2C9B95C1E4F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7/15/2026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27A3F6E-96D8-43DB-A1EF-1F00EF064AA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027D98D-3AD8-4392-8FF1-C0CFBAD9087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61027549ad4636"/>
    <p:sldLayoutId xmlns:r="http://schemas.openxmlformats.org/officeDocument/2006/relationships" id="2147483650" r:id="Rbc8fc06e89474604"/>
    <p:sldLayoutId xmlns:r="http://schemas.openxmlformats.org/officeDocument/2006/relationships" id="2147483651" r:id="R49842714f82140b7"/>
    <p:sldLayoutId xmlns:r="http://schemas.openxmlformats.org/officeDocument/2006/relationships" id="2147483652" r:id="Rc9463c864ce948dc"/>
    <p:sldLayoutId xmlns:r="http://schemas.openxmlformats.org/officeDocument/2006/relationships" id="2147483653" r:id="R7fb3c2299c8a4826"/>
    <p:sldLayoutId xmlns:r="http://schemas.openxmlformats.org/officeDocument/2006/relationships" id="2147483654" r:id="R54671e5191ed45cb"/>
    <p:sldLayoutId xmlns:r="http://schemas.openxmlformats.org/officeDocument/2006/relationships" id="2147483655" r:id="R0dca9fc27139455a"/>
    <p:sldLayoutId xmlns:r="http://schemas.openxmlformats.org/officeDocument/2006/relationships" id="2147483656" r:id="R7d67acdf00b24c9a"/>
    <p:sldLayoutId xmlns:r="http://schemas.openxmlformats.org/officeDocument/2006/relationships" id="2147483657" r:id="R2ab6cab818eb4aa7"/>
    <p:sldLayoutId xmlns:r="http://schemas.openxmlformats.org/officeDocument/2006/relationships" id="2147483658" r:id="R7739865dff5846d4"/>
    <p:sldLayoutId xmlns:r="http://schemas.openxmlformats.org/officeDocument/2006/relationships" id="2147483659" r:id="R56ec6195da8946dc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c304ccf9044ccd" /><Relationship Type="http://schemas.openxmlformats.org/officeDocument/2006/relationships/notesSlide" Target="/ppt/notesSlides/notesSlide1.xml" Id="Rf213a5eab11d4c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14feeb8c5b4b57" /><Relationship Type="http://schemas.openxmlformats.org/officeDocument/2006/relationships/notesSlide" Target="/ppt/notesSlides/notesSlide2.xml" Id="Re9e826f70b2d4c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49a014ef4e4460" /><Relationship Type="http://schemas.openxmlformats.org/officeDocument/2006/relationships/notesSlide" Target="/ppt/notesSlides/notesSlide3.xml" Id="Rd4ac529ea2604a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04b6645af94a90" /><Relationship Type="http://schemas.openxmlformats.org/officeDocument/2006/relationships/notesSlide" Target="/ppt/notesSlides/notesSlide4.xml" Id="R661e81f5cd774b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3b20bc9ea74436" /><Relationship Type="http://schemas.openxmlformats.org/officeDocument/2006/relationships/notesSlide" Target="/ppt/notesSlides/notesSlide5.xml" Id="R336eab55189f43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a73aa57bf004872" /><Relationship Type="http://schemas.openxmlformats.org/officeDocument/2006/relationships/notesSlide" Target="/ppt/notesSlides/notesSlide6.xml" Id="Rf6335d14d4aa48d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c5dca515f64220" /><Relationship Type="http://schemas.openxmlformats.org/officeDocument/2006/relationships/notesSlide" Target="/ppt/notesSlides/notesSlide7.xml" Id="R34c8e9102b8e4c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3d3a85af2e44f6" /><Relationship Type="http://schemas.openxmlformats.org/officeDocument/2006/relationships/notesSlide" Target="/ppt/notesSlides/notesSlide8.xml" Id="R83c0dc53fbfa41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32050E9-2A3F-408F-8ABD-C8F870DD7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8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1FDF17D-A7A9-4145-B7C4-2C817DF7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000" y="1692000"/>
            <a:ext cx="972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31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ПРИКЛАДНОЙ
АНАЛИЗ ДАННЫХ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DEC5EC3-437F-406E-ACFF-7EE153D9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8000" y="2676419"/>
            <a:ext cx="3305443" cy="3351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8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Проект РПД · 6-й семестр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490FBC9-D71F-408F-B5ED-1238CC0D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8000" y="3240000"/>
            <a:ext cx="828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1">
                <a:solidFill>
                  <a:srgbClr val="2F75B5"/>
                </a:solidFill>
                <a:latin typeface="Aptos"/>
                <a:ea typeface="Aptos"/>
                <a:cs typeface="Aptos"/>
              </a:rPr>
              <a:t>3 ЗЕТ  ·  108 часов  ·  16 недель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FD323DB-1071-4B3A-AC32-636289A8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8000" y="5707974"/>
            <a:ext cx="3034536" cy="2120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r>
              <a:rPr sz="1000" b="1"/>
              <a:t>01.03.02 · Прикладная математика и информатика</a:t>
            </a:r>
          </a:p>
        </p:txBody>
      </p:sp>
    </p:spTree>
    <p:extLst>
      <p:ext uri="{BB962C8B-B14F-4D97-AF65-F5344CB8AC3E}">
        <p14:creationId xmlns:p14="http://schemas.microsoft.com/office/powerpoint/2010/main" val="175765505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F912660-A19F-41FC-A90D-715E4134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162000"/>
            <a:ext cx="7200000" cy="1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900" b="1">
                <a:solidFill>
                  <a:srgbClr val="2F75B5"/>
                </a:solidFill>
                <a:latin typeface="Aptos"/>
                <a:ea typeface="Aptos"/>
                <a:cs typeface="Aptos"/>
              </a:rPr>
              <a:t>КОНЦЕПЦИЯ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4871554-1E8D-4325-9039-B32BDB3E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342000"/>
            <a:ext cx="1062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2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Цель и задачи дисциплины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0269741-2383-4679-99AC-EFBC33F6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737999"/>
            <a:ext cx="1130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8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BA356DE6-572B-438E-A287-E3373694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936000"/>
            <a:ext cx="11304000" cy="9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B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637BFEE-64A4-4A5E-9FF5-7A245F8C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000" y="1026000"/>
            <a:ext cx="1512000" cy="2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2F75B5"/>
                </a:solidFill>
                <a:latin typeface="Aptos"/>
                <a:ea typeface="Aptos"/>
                <a:cs typeface="Aptos"/>
              </a:rPr>
              <a:t>ЦЕЛЬ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1620E90-6D8F-4BCE-A8EF-8515461E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166753" y="1082531"/>
            <a:ext cx="9849247" cy="6429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Сформировать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способность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преобразовывать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прикладную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проблему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в 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воспроизводимое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аналитическое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решение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и 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обоснованные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рекомендации</a:t>
            </a:r>
            <a:r>
              <a:rPr sz="19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64FB861-FFE8-4EFF-A0C8-A9822AEF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99" y="2508737"/>
            <a:ext cx="10980000" cy="37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000" tIns="18000" rIns="3600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700">
                <a:solidFill>
                  <a:srgbClr val="202D37"/>
                </a:solidFill>
                <a:latin typeface="Aptos"/>
                <a:ea typeface="Aptos"/>
                <a:cs typeface="Aptos"/>
              </a:defRPr>
            </a:pPr>
            <a:r>
              <a:t>•  </a:t>
            </a:r>
            <a:r>
              <a:t>поставить</a:t>
            </a:r>
            <a:r>
              <a:t> </a:t>
            </a:r>
            <a:r>
              <a:t>аналитическую</a:t>
            </a:r>
            <a:r>
              <a:t> </a:t>
            </a:r>
            <a:r>
              <a:t>задачу</a:t>
            </a:r>
            <a:r>
              <a:t> и </a:t>
            </a:r>
            <a:r>
              <a:t>определить</a:t>
            </a:r>
            <a:r>
              <a:t> </a:t>
            </a:r>
            <a:r>
              <a:t>критерии</a:t>
            </a:r>
            <a:r>
              <a:t> </a:t>
            </a:r>
            <a:r>
              <a:t>успешности</a:t>
            </a:r>
            <a:r>
              <a:t>;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700">
                <a:solidFill>
                  <a:srgbClr val="202D37"/>
                </a:solidFill>
                <a:latin typeface="Aptos"/>
                <a:ea typeface="Aptos"/>
                <a:cs typeface="Aptos"/>
              </a:defRPr>
            </a:pPr>
            <a:r>
              <a:t>•  </a:t>
            </a:r>
            <a:r>
              <a:t>исследовать</a:t>
            </a:r>
            <a:r>
              <a:t> </a:t>
            </a:r>
            <a:r>
              <a:t>качество</a:t>
            </a:r>
            <a:r>
              <a:t>, </a:t>
            </a:r>
            <a:r>
              <a:t>структуру</a:t>
            </a:r>
            <a:r>
              <a:t> и </a:t>
            </a:r>
            <a:r>
              <a:t>содержание</a:t>
            </a:r>
            <a:r>
              <a:t> </a:t>
            </a:r>
            <a:r>
              <a:t>данных</a:t>
            </a:r>
            <a:r>
              <a:t>;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700">
                <a:solidFill>
                  <a:srgbClr val="202D37"/>
                </a:solidFill>
                <a:latin typeface="Aptos"/>
                <a:ea typeface="Aptos"/>
                <a:cs typeface="Aptos"/>
              </a:defRPr>
            </a:pPr>
            <a:r>
              <a:t>•  </a:t>
            </a:r>
            <a:r>
              <a:t>подготовить</a:t>
            </a:r>
            <a:r>
              <a:t> </a:t>
            </a:r>
            <a:r>
              <a:t>данные</a:t>
            </a:r>
            <a:r>
              <a:t> и </a:t>
            </a:r>
            <a:r>
              <a:t>признаки</a:t>
            </a:r>
            <a:r>
              <a:t> к </a:t>
            </a:r>
            <a:r>
              <a:t>моделированию</a:t>
            </a:r>
            <a:r>
              <a:t>;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700">
                <a:solidFill>
                  <a:srgbClr val="202D37"/>
                </a:solidFill>
                <a:latin typeface="Aptos"/>
                <a:ea typeface="Aptos"/>
                <a:cs typeface="Aptos"/>
              </a:defRPr>
            </a:pPr>
            <a:r>
              <a:t>•  </a:t>
            </a:r>
            <a:r>
              <a:t>построить</a:t>
            </a:r>
            <a:r>
              <a:t> baseline и </a:t>
            </a:r>
            <a:r>
              <a:t>сравнить</a:t>
            </a:r>
            <a:r>
              <a:t> </a:t>
            </a:r>
            <a:r>
              <a:t>альтернативные</a:t>
            </a:r>
            <a:r>
              <a:t> </a:t>
            </a:r>
            <a:r>
              <a:t>модели</a:t>
            </a:r>
            <a:r>
              <a:t>;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700">
                <a:solidFill>
                  <a:srgbClr val="202D37"/>
                </a:solidFill>
                <a:latin typeface="Aptos"/>
                <a:ea typeface="Aptos"/>
                <a:cs typeface="Aptos"/>
              </a:defRPr>
            </a:pPr>
            <a:r>
              <a:t>•  </a:t>
            </a:r>
            <a:r>
              <a:t>выбрать</a:t>
            </a:r>
            <a:r>
              <a:t> </a:t>
            </a:r>
            <a:r>
              <a:t>схему</a:t>
            </a:r>
            <a:r>
              <a:t> </a:t>
            </a:r>
            <a:r>
              <a:t>валидации</a:t>
            </a:r>
            <a:r>
              <a:t> и </a:t>
            </a:r>
            <a:r>
              <a:t>метрики</a:t>
            </a:r>
            <a:r>
              <a:t> </a:t>
            </a:r>
            <a:r>
              <a:t>под</a:t>
            </a:r>
            <a:r>
              <a:t> </a:t>
            </a:r>
            <a:r>
              <a:t>прикладную</a:t>
            </a:r>
            <a:r>
              <a:t> </a:t>
            </a:r>
            <a:r>
              <a:t>задачу</a:t>
            </a:r>
            <a:r>
              <a:t>;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700">
                <a:solidFill>
                  <a:srgbClr val="202D37"/>
                </a:solidFill>
                <a:latin typeface="Aptos"/>
                <a:ea typeface="Aptos"/>
                <a:cs typeface="Aptos"/>
              </a:defRPr>
            </a:pPr>
            <a:r>
              <a:t>•  </a:t>
            </a:r>
            <a:r>
              <a:t>представить</a:t>
            </a:r>
            <a:r>
              <a:t> </a:t>
            </a:r>
            <a:r>
              <a:t>выводы</a:t>
            </a:r>
            <a:r>
              <a:t>, </a:t>
            </a:r>
            <a:r>
              <a:t>ограничения</a:t>
            </a:r>
            <a:r>
              <a:t> и </a:t>
            </a:r>
            <a:r>
              <a:t>рекомендации</a:t>
            </a:r>
            <a:r>
              <a:t> </a:t>
            </a:r>
            <a:r>
              <a:t>заказчику</a:t>
            </a:r>
            <a:r>
              <a:t>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C34A980-9FC3-4F90-9A05-4F3DB10A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6588000"/>
            <a:ext cx="7200000" cy="125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800" b="0">
                <a:solidFill>
                  <a:srgbClr val="64707A"/>
                </a:solidFill>
                <a:latin typeface="Aptos"/>
                <a:ea typeface="Aptos"/>
                <a:cs typeface="Aptos"/>
              </a:rPr>
              <a:t>Прикладной анализ данных · проект дисциплины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FD26606-71A1-47B7-BB80-A2F3ADA6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000" y="6588000"/>
            <a:ext cx="503999" cy="125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0"/>
              </a:spcAft>
              <a:buNone/>
            </a:pPr>
            <a:r>
              <a:rPr sz="800" b="0">
                <a:solidFill>
                  <a:srgbClr val="64707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4DCA901-884D-2A16-1319-D3C61EFA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000" y="1958936"/>
            <a:ext cx="6097508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>
                <a:latin typeface="Aptos"/>
                <a:ea typeface="Aptos"/>
                <a:cs typeface="Aptos"/>
              </a:rPr>
              <a:t>Задачи</a:t>
            </a:r>
            <a:r>
              <a:rPr>
                <a:latin typeface="Aptos"/>
                <a:ea typeface="Aptos"/>
                <a:cs typeface="Aptos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6566310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BD6425F-FE40-4842-822F-25E4899B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162000"/>
            <a:ext cx="7200000" cy="194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900" b="1">
                <a:solidFill>
                  <a:srgbClr val="2F75B5"/>
                </a:solidFill>
                <a:latin typeface="Aptos"/>
                <a:ea typeface="Aptos"/>
                <a:cs typeface="Aptos"/>
              </a:rPr>
              <a:t>ВХОДНЫЕ ТРЕБОВАНИЯ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FDF8548-3B4E-415D-B269-4685339A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342000"/>
            <a:ext cx="10620000" cy="43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2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Что студент умеет до начала курса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BE913A9-C664-4269-B52F-0A2B761F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737999"/>
            <a:ext cx="1130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8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F5547C35-7C42-4027-924B-18809FA8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936000"/>
            <a:ext cx="3491999" cy="19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BE7BCBC-F136-4242-BF4B-1A362E88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936000"/>
            <a:ext cx="57600" cy="19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39DDFE-F740-4F69-A475-3988AB90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1026000"/>
            <a:ext cx="3240000" cy="270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ВК-1.1 · Матанализ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2BDC055-87B8-4D00-8FB1-559CFEA6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1296000"/>
            <a:ext cx="3240000" cy="15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15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Функции, производная, экстремум и градиент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3B676D75-F87D-42ED-AFD7-54DEC8E1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000" y="936000"/>
            <a:ext cx="3491999" cy="19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3C08558-1E20-4F84-8039-1BBFD522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000" y="936000"/>
            <a:ext cx="57600" cy="19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E9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89115F-9830-4BCC-B1A7-3C148788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8000" y="1026000"/>
            <a:ext cx="3240000" cy="270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ВК-1.2 · Линейная алгебра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19BC064-8B5A-4973-A9B7-64CEC1D5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8000" y="1296000"/>
            <a:ext cx="3240000" cy="15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15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Векторы, матрицы, нормы и расстояния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EAFB462C-03F0-47E0-8219-E7364997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000" y="936000"/>
            <a:ext cx="3491999" cy="19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C947A00-5A43-4B3B-8CB3-4E195847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000" y="936000"/>
            <a:ext cx="57600" cy="19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3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3E4EDF8-8E20-4622-A2CB-856E136A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000" y="1026000"/>
            <a:ext cx="3240000" cy="270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ВК-2.1–2.2 · Статистика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67F5968-0FCB-4DE3-A0C4-020847EC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000" y="1296000"/>
            <a:ext cx="3240000" cy="41210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000" tIns="28800" rIns="54000" bIns="28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15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Среднее, разброс, корреляция и проверка гипотез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888125E5-2A3D-437F-92F9-1A26DB3B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3348000"/>
            <a:ext cx="3491999" cy="19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8E5564F-882F-426F-90E6-BDB25754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3348000"/>
            <a:ext cx="57600" cy="19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9F415CC-D311-4A59-91FD-6BFF5A92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3438000"/>
            <a:ext cx="3240000" cy="270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ВК-3.1 · Python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52A7431-83C5-44CA-B92E-847656DB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999" y="3708000"/>
            <a:ext cx="3239999" cy="41210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000" tIns="28800" rIns="54000" bIns="28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15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Функции, коллекции, файлы и обработка ошибок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D9E13456-E8F3-4363-AB0F-2578956D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000" y="3348000"/>
            <a:ext cx="3491999" cy="19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8EB2E13-45B4-4232-B968-88A06431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000" y="3348000"/>
            <a:ext cx="57600" cy="19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E9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EB1649-B773-418C-B83F-9DDF59BB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8000" y="3438000"/>
            <a:ext cx="3240000" cy="270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ВК-3.2 · Среда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5165419-DD06-4D56-BDB7-2B597591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8000" y="3708000"/>
            <a:ext cx="3240000" cy="41210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000" tIns="28800" rIns="54000" bIns="28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15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Ноутбук, зависимости, NumPy/pandas и повторный запуск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AEC76B93-09CA-4952-B05B-776D12C5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000" y="3348000"/>
            <a:ext cx="3491999" cy="19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4BC13A08-6CB4-4279-8256-89069511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000" y="3348000"/>
            <a:ext cx="57600" cy="19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3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120B1FCF-DE9F-484E-9FC9-F89746D4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000" y="3438000"/>
            <a:ext cx="3240000" cy="270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ВК-4.1–4.2 · Данные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652358D-F56C-4787-9206-776A0C66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000" y="3708000"/>
            <a:ext cx="3240000" cy="15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15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Типы, пропуски, JOIN, GROUP BY и гранулярность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B5E92440-E89B-434C-928D-019705C4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000" y="6588000"/>
            <a:ext cx="503999" cy="125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0"/>
              </a:spcAft>
              <a:buNone/>
            </a:pPr>
            <a:r>
              <a:rPr sz="800" b="0">
                <a:solidFill>
                  <a:srgbClr val="64707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779876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ABEE6D-6883-460B-8021-B0D22455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162000"/>
            <a:ext cx="7200000" cy="1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900" b="1">
                <a:solidFill>
                  <a:srgbClr val="2F75B5"/>
                </a:solidFill>
                <a:latin typeface="Aptos"/>
                <a:ea typeface="Aptos"/>
                <a:cs typeface="Aptos"/>
              </a:rPr>
              <a:t>КОМПЕТЕНТНОСТНАЯ МОДЕЛЬ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157DFA1-58F3-4D96-8C13-FB454D2F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342000"/>
            <a:ext cx="1062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2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Три сквозные компетенции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9E9218C-9B6E-44EC-903F-52B4A98C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737999"/>
            <a:ext cx="1130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8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97F958B5-4206-4249-8F8B-DCAB9676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1080000"/>
            <a:ext cx="3528000" cy="388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E7118A6-CC0B-4288-8F2C-7ACAF4E7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1080000"/>
            <a:ext cx="57600" cy="388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0E36040-D74A-45CE-AC1D-879AC899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999" y="1306691"/>
            <a:ext cx="3026281" cy="5198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LC-1  ·  </a:t>
            </a: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Понимание</a:t>
            </a: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прикладной</a:t>
            </a: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проблемы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47606F8-2B64-4589-9A9F-DD6DBC08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79" y="2024518"/>
            <a:ext cx="3199081" cy="458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000" tIns="28800" rIns="54000" bIns="28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Формализует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проблему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, 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цель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анализа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, 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ограничения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 и 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критерии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успешности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934EED8-817E-4FA0-99C6-077ECE98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00" y="4212000"/>
            <a:ext cx="1764000" cy="3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3D2C244-3830-42CA-877D-FB213916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266000"/>
            <a:ext cx="1655999" cy="2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0"/>
              </a:spcAft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Индикаторы 1.1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6A113E1-C50C-4EFD-8034-51C1A7985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4000" y="4212000"/>
            <a:ext cx="1152000" cy="3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E7496FE-8675-4B03-BCD5-E52BDC98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000" y="4266000"/>
            <a:ext cx="1044000" cy="2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0"/>
              </a:spcAft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Уровень С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CAF28E65-129D-442E-9ABA-DBFE03AE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000" y="1080000"/>
            <a:ext cx="3528000" cy="388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16D04DE-E6E6-47E4-B6DE-4470FFCC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000" y="1080000"/>
            <a:ext cx="57600" cy="388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E9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1AC1C61-7C5D-4A4D-BD35-E1A1FBE8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7552" y="1270086"/>
            <a:ext cx="3276000" cy="5198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BD-1  ·  </a:t>
            </a: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Исследование</a:t>
            </a: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и </a:t>
            </a: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подготовка</a:t>
            </a: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данных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2394433-8D77-44AF-8A71-34B1102C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574" y="2023913"/>
            <a:ext cx="3276001" cy="6583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000" tIns="28800" rIns="54000" bIns="28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Исследует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данные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, 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проверяет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гипотезы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, 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обосновывает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очистку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 и 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формирует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признаки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BE0710D-E1E3-4C66-B55D-72E6D663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00" y="4212000"/>
            <a:ext cx="1764000" cy="3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8E9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9434392-1F6B-442C-BD52-B089893D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8000" y="4266000"/>
            <a:ext cx="1655999" cy="2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0"/>
              </a:spcAft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Индикаторы 1.2 · 1.3 · 1.5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5A87BA2D-6929-438F-A93F-23848243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000" y="4212000"/>
            <a:ext cx="1152000" cy="3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134EDA2-1CA2-4FA8-A36F-45906429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000" y="4266000"/>
            <a:ext cx="1044000" cy="2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0"/>
              </a:spcAft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Уровень С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6FF51DD6-46A9-4B94-BA7A-3E95D513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000" y="1080000"/>
            <a:ext cx="3528000" cy="388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4243F788-8B82-4C7B-8354-A6C71F51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000" y="1080000"/>
            <a:ext cx="57600" cy="388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3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790F482-D6F4-48BA-9307-C4EA7D25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000" y="1392005"/>
            <a:ext cx="3276001" cy="251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ML-2  ·  </a:t>
            </a: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Моделирование</a:t>
            </a: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и </a:t>
            </a:r>
            <a:r>
              <a:rPr sz="1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оценка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E00F8B4-8827-4C3D-8237-D9D081E7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000" y="2208008"/>
            <a:ext cx="2880000" cy="6583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000" tIns="28800" rIns="54000" bIns="28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3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Выбирает тип задачи и модели, применяет валидацию и метрики.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F245A4EF-E45E-4041-A9C9-ACA5BD42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000" y="4212000"/>
            <a:ext cx="1764000" cy="3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6A3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F1DE1E93-DEAE-4539-9FFA-AE07B264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6000" y="4266000"/>
            <a:ext cx="1655999" cy="2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0"/>
              </a:spcAft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Индикаторы 2.1 · 2.2 · 2.3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B52BC5C3-5C52-478F-8B3C-54DB931B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0000" y="4212000"/>
            <a:ext cx="1152000" cy="3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AB013A04-8FFE-4A68-9B39-16576ABA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4000" y="4266000"/>
            <a:ext cx="1044000" cy="2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0"/>
              </a:spcAft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Уровень С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74A061DC-88B8-4901-8CA8-1014F301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5436000"/>
            <a:ext cx="11232000" cy="46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0"/>
              </a:spcAft>
              <a:buNone/>
            </a:pPr>
            <a:r>
              <a:rPr sz="1300" b="1">
                <a:solidFill>
                  <a:srgbClr val="64707A"/>
                </a:solidFill>
                <a:latin typeface="Aptos"/>
                <a:ea typeface="Aptos"/>
                <a:cs typeface="Aptos"/>
              </a:rPr>
              <a:t>BD-1: курс формирует уровень С; уровень П требует нескольких независимых работ в последующих элементах программы.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B07DA1AB-9C8D-4E12-8E27-769F3436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000" y="6588000"/>
            <a:ext cx="503999" cy="125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0"/>
              </a:spcAft>
              <a:buNone/>
            </a:pPr>
            <a:r>
              <a:rPr sz="800" b="0">
                <a:solidFill>
                  <a:srgbClr val="64707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404516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740B15C-A29D-4BBB-B8B4-9643465E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162000"/>
            <a:ext cx="7200000" cy="1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8800" tIns="0" rIns="2880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900" b="1">
                <a:solidFill>
                  <a:srgbClr val="2F75B5"/>
                </a:solidFill>
                <a:latin typeface="Aptos"/>
                <a:ea typeface="Aptos"/>
                <a:cs typeface="Aptos"/>
              </a:rPr>
              <a:t>КОМПЕТЕНТНОСТНАЯ МОДЕЛЬ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E87C30D-6CDD-4B0E-97D1-2120C420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342000"/>
            <a:ext cx="1062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8800" tIns="0" rIns="2880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2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Индикаторы и их содержание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7C941E3-DD5B-4E47-8375-C6743842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737999"/>
            <a:ext cx="1130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8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B6B0556E-EF50-4F4C-BD89-7D106ABA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917999"/>
            <a:ext cx="3600000" cy="52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7FB"/>
          </a:solidFill>
          <a:ln xmlns:a="http://schemas.openxmlformats.org/drawingml/2006/main" w="1016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49591A9-8E2A-425B-88D4-FA395FEC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917999"/>
            <a:ext cx="3600000" cy="7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37AB0F7-D57B-4C17-A492-6817222C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1007999"/>
            <a:ext cx="900000" cy="23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8800" tIns="0" rIns="2880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LC-1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695139E-A11A-423B-97C4-3829C84E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1249199"/>
            <a:ext cx="2808000" cy="25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8800" tIns="0" rIns="2880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Постановка задачи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023FF5B-08CC-4195-903E-055A3822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000" y="1079999"/>
            <a:ext cx="522000" cy="2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F3ACEB3-6871-4DAF-948E-AC706C65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000" y="1108799"/>
            <a:ext cx="45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8800" tIns="0" rIns="2880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С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5FC37C6-C835-4EF4-B264-9CE482A7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000" y="917999"/>
            <a:ext cx="3600000" cy="52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7FB"/>
          </a:solidFill>
          <a:ln xmlns:a="http://schemas.openxmlformats.org/drawingml/2006/main" w="1016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011D81B-B654-4C7B-8FA0-26271945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000" y="917999"/>
            <a:ext cx="3600000" cy="7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8E9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E56D355-240F-402F-8C32-88810B00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6000" y="1007999"/>
            <a:ext cx="900000" cy="23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8800" tIns="0" rIns="2880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BD-1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C2947EB-7B6A-4A76-9420-A45084FF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6000" y="1249199"/>
            <a:ext cx="2808000" cy="25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8800" tIns="0" rIns="2880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Работа с данными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50EFFD9-F65B-4E5B-A0A6-85938F629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2000" y="1079999"/>
            <a:ext cx="522000" cy="2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F2EC18E-2952-4B28-9FC8-04E8B867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8000" y="1108799"/>
            <a:ext cx="45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8800" tIns="0" rIns="2880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С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CE7AD56B-FE2C-4529-BE6B-CAA89E92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8000" y="917999"/>
            <a:ext cx="3600000" cy="52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7FB"/>
          </a:solidFill>
          <a:ln xmlns:a="http://schemas.openxmlformats.org/drawingml/2006/main" w="1016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71C0220-EDF0-49AC-A34C-457B05B7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8000" y="917999"/>
            <a:ext cx="3600000" cy="7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6A3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509F5BA-9FB6-42AE-9671-1BBDEAB9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000" y="1007999"/>
            <a:ext cx="900000" cy="23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8800" tIns="0" rIns="2880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ML-2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DAEBB0F-A445-4339-9D0C-497A341E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000" y="1249199"/>
            <a:ext cx="2808000" cy="25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8800" tIns="0" rIns="2880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Моделирование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47BE682C-8763-4F26-9C28-097E1C0F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8000" y="1079999"/>
            <a:ext cx="522000" cy="2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78DD168-F08E-40AF-878F-A9869046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4000" y="1108799"/>
            <a:ext cx="45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8800" tIns="0" rIns="2880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С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66F52F4F-B03F-45A6-97C0-A6E6A6F0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000" y="1997999"/>
            <a:ext cx="3276000" cy="298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89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A51B7A8C-B3DC-4415-8449-0F13062D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000" y="1997999"/>
            <a:ext cx="50400" cy="298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732FF281-BAE0-49C5-8344-FD1DE0A6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2497703"/>
            <a:ext cx="3042000" cy="1988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000" tIns="14400" rIns="18000" bIns="14400" anchor="ctr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500" b="1">
                <a:solidFill>
                  <a:srgbClr val="2F75B5"/>
                </a:solidFill>
                <a:latin typeface="Aptos"/>
                <a:ea typeface="Aptos"/>
                <a:cs typeface="Aptos"/>
              </a:rPr>
              <a:t>LC-1.1</a:t>
            </a:r>
          </a:p>
          <a:p xmlns:a="http://schemas.openxmlformats.org/drawingml/2006/main">
            <a:pPr>
              <a:spcAft>
                <a:spcPts val="1000"/>
              </a:spcAft>
              <a:buNone/>
            </a:pPr>
            <a:r>
              <a:rPr sz="17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Формулирует</a:t>
            </a:r>
            <a:r>
              <a:rPr sz="17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7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прикладную</a:t>
            </a:r>
            <a:r>
              <a:rPr sz="17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7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задачу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Определяет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проблему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, 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заинтересованные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стороны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, 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цель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анализа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, 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ограничения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, 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требования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 к 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данным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 и 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измеримые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критерии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успешности</a:t>
            </a:r>
            <a:r>
              <a:rPr sz="1300">
                <a:solidFill>
                  <a:srgbClr val="202D37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78311EA3-5969-4056-BB6C-BB34BE6D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00" y="1835998"/>
            <a:ext cx="3276000" cy="120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89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EE6A6581-D0F9-4C9F-847B-0628D6D2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00" y="1835998"/>
            <a:ext cx="50400" cy="120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E9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1BDD772-1CF9-4DB8-BEF1-8BE40A89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000" y="1925998"/>
            <a:ext cx="2988000" cy="965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000" tIns="14400" rIns="18000" bIns="14400" anchor="t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300"/>
              </a:spcAft>
              <a:buNone/>
            </a:pPr>
            <a:r>
              <a:rPr sz="1200" b="1">
                <a:solidFill>
                  <a:srgbClr val="1F8E97"/>
                </a:solidFill>
                <a:latin typeface="Aptos"/>
                <a:ea typeface="Aptos"/>
                <a:cs typeface="Aptos"/>
              </a:rPr>
              <a:t>BD-1.2</a:t>
            </a:r>
          </a:p>
          <a:p xmlns:a="http://schemas.openxmlformats.org/drawingml/2006/main">
            <a:pPr>
              <a:spcAft>
                <a:spcPts val="400"/>
              </a:spcAft>
              <a:buNone/>
            </a:pP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Исследует данные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Выполняет одномерный и многомерный анализ, визуализирует данные и формулирует проверяемые гипотезы.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DF2E8A4C-6524-462F-9297-8983DA54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00" y="3221999"/>
            <a:ext cx="3276000" cy="120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89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A5461B03-B68B-4E78-9110-74F6186E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00" y="3221999"/>
            <a:ext cx="50400" cy="120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E9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120FBF51-D55C-4C7C-8960-9B09E90D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000" y="3311999"/>
            <a:ext cx="2970000" cy="965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000" tIns="14400" rIns="18000" bIns="14400" anchor="t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300"/>
              </a:spcAft>
              <a:buNone/>
            </a:pPr>
            <a:r>
              <a:rPr sz="1200" b="1">
                <a:solidFill>
                  <a:srgbClr val="1F8E97"/>
                </a:solidFill>
                <a:latin typeface="Aptos"/>
                <a:ea typeface="Aptos"/>
                <a:cs typeface="Aptos"/>
              </a:rPr>
              <a:t>BD-1.3</a:t>
            </a:r>
          </a:p>
          <a:p xmlns:a="http://schemas.openxmlformats.org/drawingml/2006/main">
            <a:pPr>
              <a:spcAft>
                <a:spcPts val="400"/>
              </a:spcAft>
              <a:buNone/>
            </a:pP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Очищает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данные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Находит пропуски, дубликаты, выбросы и ошибки, обосновывает обработку.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057C37C9-3F07-4580-BF0A-AFE74870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00" y="4607999"/>
            <a:ext cx="3276000" cy="120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89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3362D6B9-2035-4EB7-BE29-1E75525F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00" y="4607999"/>
            <a:ext cx="50400" cy="120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E9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2BFFBF57-CDDB-4DB3-81AC-5852C46F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000" y="4697999"/>
            <a:ext cx="2970000" cy="811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000" tIns="14400" rIns="18000" bIns="14400" anchor="t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300"/>
              </a:spcAft>
              <a:buNone/>
            </a:pPr>
            <a:r>
              <a:rPr sz="1200" b="1">
                <a:solidFill>
                  <a:srgbClr val="1F8E97"/>
                </a:solidFill>
                <a:latin typeface="Aptos"/>
                <a:ea typeface="Aptos"/>
                <a:cs typeface="Aptos"/>
              </a:rPr>
              <a:t>BD-1.5</a:t>
            </a:r>
          </a:p>
          <a:p xmlns:a="http://schemas.openxmlformats.org/drawingml/2006/main">
            <a:pPr>
              <a:spcAft>
                <a:spcPts val="400"/>
              </a:spcAft>
              <a:buNone/>
            </a:pP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Формирует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признаки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Отбирает и создаёт признаки с учётом задачи и момента их доступности.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11AD56A4-3B84-45F3-83D1-10D175F6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0000" y="1835998"/>
            <a:ext cx="3276000" cy="120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89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F6887551-210A-4416-AAF4-70509561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0000" y="1835998"/>
            <a:ext cx="50400" cy="120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3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E5835E47-3712-4D4B-B561-D70BA4C7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2000" y="1925998"/>
            <a:ext cx="2988000" cy="965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000" tIns="14400" rIns="18000" bIns="14400" anchor="t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300"/>
              </a:spcAft>
              <a:buNone/>
            </a:pPr>
            <a:r>
              <a:rPr sz="1200" b="1">
                <a:solidFill>
                  <a:srgbClr val="E6A337"/>
                </a:solidFill>
                <a:latin typeface="Aptos"/>
                <a:ea typeface="Aptos"/>
                <a:cs typeface="Aptos"/>
              </a:rPr>
              <a:t>ML-2.1</a:t>
            </a:r>
          </a:p>
          <a:p xmlns:a="http://schemas.openxmlformats.org/drawingml/2006/main">
            <a:pPr>
              <a:spcAft>
                <a:spcPts val="400"/>
              </a:spcAft>
              <a:buNone/>
            </a:pP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Выбирает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тип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задачи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и 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модель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Различает регрессию, классификацию и кластеризацию, строит baseline и выбирает подход.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5DAEA502-2DC2-4742-8928-B6BF51DF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0000" y="3221999"/>
            <a:ext cx="3276000" cy="120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89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8411F97D-55C0-4A43-B4C9-17C4B4F5E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0000" y="3221999"/>
            <a:ext cx="50400" cy="120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3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8BE867F8-58CD-49A8-8FC8-CFC56DF0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2000" y="3311999"/>
            <a:ext cx="2988000" cy="811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000" tIns="14400" rIns="18000" bIns="14400" anchor="t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300"/>
              </a:spcAft>
              <a:buNone/>
            </a:pPr>
            <a:r>
              <a:rPr sz="1200" b="1">
                <a:solidFill>
                  <a:srgbClr val="E6A337"/>
                </a:solidFill>
                <a:latin typeface="Aptos"/>
                <a:ea typeface="Aptos"/>
                <a:cs typeface="Aptos"/>
              </a:rPr>
              <a:t>ML-2.2</a:t>
            </a:r>
          </a:p>
          <a:p xmlns:a="http://schemas.openxmlformats.org/drawingml/2006/main">
            <a:pPr>
              <a:spcAft>
                <a:spcPts val="400"/>
              </a:spcAft>
              <a:buNone/>
            </a:pP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Готовит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данные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к 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моделированию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Применяет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кодирование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, 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масштабирование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, 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отбор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 и 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создание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признаков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без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утечки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 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данных</a:t>
            </a: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7054FE5F-0FF8-41C6-9C18-1DB47D88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0000" y="4607999"/>
            <a:ext cx="3276000" cy="120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89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63F2FC31-CABE-4D30-9526-B2934EBA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0000" y="4607999"/>
            <a:ext cx="50400" cy="120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3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CCECC752-4BE6-4CA2-AB8D-306FEF70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2000" y="4697999"/>
            <a:ext cx="2988000" cy="965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000" tIns="14400" rIns="18000" bIns="14400" anchor="t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300"/>
              </a:spcAft>
              <a:buNone/>
            </a:pPr>
            <a:r>
              <a:rPr sz="1200" b="1">
                <a:solidFill>
                  <a:srgbClr val="E6A337"/>
                </a:solidFill>
                <a:latin typeface="Aptos"/>
                <a:ea typeface="Aptos"/>
                <a:cs typeface="Aptos"/>
              </a:rPr>
              <a:t>ML-2.3</a:t>
            </a:r>
          </a:p>
          <a:p xmlns:a="http://schemas.openxmlformats.org/drawingml/2006/main">
            <a:pPr>
              <a:spcAft>
                <a:spcPts val="400"/>
              </a:spcAft>
              <a:buNone/>
            </a:pP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Оценивает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качество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модели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1000">
                <a:solidFill>
                  <a:srgbClr val="202D37"/>
                </a:solidFill>
                <a:latin typeface="Aptos"/>
                <a:ea typeface="Aptos"/>
                <a:cs typeface="Aptos"/>
              </a:rPr>
              <a:t>Выбирает схему валидации и метрики, разбирает ошибки и ограничения.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E967FCB1-B0E5-4847-AF34-306A8737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6588000"/>
            <a:ext cx="7200000" cy="125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8800" tIns="0" rIns="2880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800" b="0">
                <a:solidFill>
                  <a:srgbClr val="64707A"/>
                </a:solidFill>
                <a:latin typeface="Aptos"/>
                <a:ea typeface="Aptos"/>
                <a:cs typeface="Aptos"/>
              </a:rPr>
              <a:t>Прикладной анализ данных · проект дисциплины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98788163-9C8E-4C6F-8A66-DE240E77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000" y="6588000"/>
            <a:ext cx="503999" cy="125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8800" tIns="0" rIns="2880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0"/>
              </a:spcAft>
              <a:buNone/>
            </a:pPr>
            <a:r>
              <a:rPr sz="800" b="0">
                <a:solidFill>
                  <a:srgbClr val="64707A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4440292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33F66C-85B8-403C-AC8F-5AA818E00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162000"/>
            <a:ext cx="7200000" cy="1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900" b="1">
                <a:solidFill>
                  <a:srgbClr val="2F75B5"/>
                </a:solidFill>
                <a:latin typeface="Aptos"/>
                <a:ea typeface="Aptos"/>
                <a:cs typeface="Aptos"/>
              </a:rPr>
              <a:t>СТРУКТУРА ДИСЦИПЛИНЫ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CC3C39E-7E77-43A2-9B6E-D2A23C8F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342000"/>
            <a:ext cx="1062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2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Тематический план · часть 1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276D784-E182-4030-8792-C18DDFF8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737999"/>
            <a:ext cx="1130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8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graphicFrame>
        <p:nvGraphicFramePr>
          <p:cNvPr id="12" name="Table 4"/>
          <p:cNvGraphicFramePr/>
          <p:nvPr/>
        </p:nvGraphicFramePr>
        <p:xfrm>
          <a:off xmlns:a="http://schemas.openxmlformats.org/drawingml/2006/main" x="288000" y="846000"/>
          <a:ext xmlns:a="http://schemas.openxmlformats.org/drawingml/2006/main" cx="10800000" cy="5508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4320000"/>
                <a:gridCol w="864000"/>
                <a:gridCol w="756000"/>
                <a:gridCol w="1152000"/>
                <a:gridCol w="1188000"/>
                <a:gridCol w="540000"/>
              </a:tblGrid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Элемент дисциплины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Содержание</a:t>
                      </a:r>
                    </a:p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(тематические сущности)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Форма</a:t>
                      </a:r>
                    </a:p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занятия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Объём,</a:t>
                      </a:r>
                    </a:p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а.ч.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Компетенция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Индикатор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Уровень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Модуль 1. Постановка прикладной задачи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Проблема, цель, стейкхолдеры, критерии успешности; полный цикл CRISP-DM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2/4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LC-1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1.1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Предметная и аналитическая постановка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Цель</a:t>
                      </a: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, </a:t>
                      </a: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задачи</a:t>
                      </a: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, </a:t>
                      </a: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ограничения</a:t>
                      </a: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, </a:t>
                      </a: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пользователи</a:t>
                      </a: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 </a:t>
                      </a: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результата</a:t>
                      </a: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, </a:t>
                      </a: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метрики</a:t>
                      </a: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 </a:t>
                      </a: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успеха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2/2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LC-1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1.1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Паспорт проекта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Формализация кейса и требований к данным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П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LC-1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1.1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Модуль 2. Понимание и исследование данных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Источники, качество, описательная статистика, визуализация и EDA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4/6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BD-1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1.2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Источники и паспорт данных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Гранулярность, словарь, происхождение и первичный аудит данных в Python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2/2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BD-1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1.2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Разведочный анализ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Распределения, связи признаков, визуализация и проверка гипотез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2/4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BD-1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1.2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Модуль 3. Подготовка данных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Очистка, преобразование, признаки и предотвращение утечки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2/8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BD-1; ML-2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1.3, 1.5; 2.2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Пайплайн подготовки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Пропуски, выбросы, категории, масштабирование, отбор и создание признаков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П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8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BD-1; ML-2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1.3, 1.5; 2.2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AB92B1B-15E9-44E5-8E83-26A22039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6588000"/>
            <a:ext cx="7200000" cy="125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800" b="0">
                <a:solidFill>
                  <a:srgbClr val="64707A"/>
                </a:solidFill>
                <a:latin typeface="Aptos"/>
                <a:ea typeface="Aptos"/>
                <a:cs typeface="Aptos"/>
              </a:rPr>
              <a:t>Прикладной анализ данных · проект дисциплины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34B7A4-4EF9-412C-AD6D-AA3DBC8F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000" y="6588000"/>
            <a:ext cx="503999" cy="125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0"/>
              </a:spcAft>
              <a:buNone/>
            </a:pPr>
            <a:r>
              <a:rPr sz="800" b="0">
                <a:solidFill>
                  <a:srgbClr val="64707A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7970071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CEC1A19-7C79-4F6D-8EC2-D9D5B8D7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162000"/>
            <a:ext cx="7200000" cy="1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900" b="1">
                <a:solidFill>
                  <a:srgbClr val="2F75B5"/>
                </a:solidFill>
                <a:latin typeface="Aptos"/>
                <a:ea typeface="Aptos"/>
                <a:cs typeface="Aptos"/>
              </a:rPr>
              <a:t>СТРУКТУРА ДИСЦИПЛИНЫ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CF6A45-2B5B-4DFA-B114-344AB75B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342000"/>
            <a:ext cx="1062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2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Тематический план · часть 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AFC9D0-AB8B-442A-814E-7D2EB971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737999"/>
            <a:ext cx="1130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8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graphicFrame>
        <p:nvGraphicFramePr>
          <p:cNvPr id="12" name="Table 4"/>
          <p:cNvGraphicFramePr/>
          <p:nvPr/>
        </p:nvGraphicFramePr>
        <p:xfrm>
          <a:off xmlns:a="http://schemas.openxmlformats.org/drawingml/2006/main" x="288000" y="846000"/>
          <a:ext xmlns:a="http://schemas.openxmlformats.org/drawingml/2006/main" cx="10800000" cy="5508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4320000"/>
                <a:gridCol w="864000"/>
                <a:gridCol w="756000"/>
                <a:gridCol w="1152000"/>
                <a:gridCol w="1188000"/>
                <a:gridCol w="540000"/>
              </a:tblGrid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Элемент дисциплины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Содержание</a:t>
                      </a:r>
                    </a:p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(тематические сущности)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Форма</a:t>
                      </a:r>
                    </a:p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занятия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Объём,</a:t>
                      </a:r>
                    </a:p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а.ч.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Компетенция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Индикатор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Уровень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</a:tr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Модуль 4. Моделирование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Типы</a:t>
                      </a: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 </a:t>
                      </a: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задач</a:t>
                      </a: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, </a:t>
                      </a: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регрессия</a:t>
                      </a: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, </a:t>
                      </a: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классификация</a:t>
                      </a: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, </a:t>
                      </a: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кластеризация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4/8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ML-2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2.1, 2.2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</a:tr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Тип</a:t>
                      </a: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 </a:t>
                      </a: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задачи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Выбор постановки и построение простого базового решения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2/2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ML-2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2.1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</a:tr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Модели и интерпретация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Линейные модели, деревья, ансамбли, сегментация и объяснение результата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2/6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ML-2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2.1, 2.2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</a:tr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Модуль 5. Оценка результатов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Разбиение, кросс-валидация, метрики, дисбаланс и анализ ошибок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2/4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ML-2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2.3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</a:tr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Валидация и сравнение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Выбор метрики, анализ переобучения, ошибок и неопределённости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2/4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ML-2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2.3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</a:tr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Модуль 6. Аналитический продукт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Визуализация, ограничения, этика, рекомендации и план применения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Л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LC-1; BD-1; ML-2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1.1; 1.2, 1.3, 1.5; 2.1–2.3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</a:tr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Дифференцированный зачёт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Защита сквозного аналитического проекта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ДЗ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LC-1; BD-1; ML-2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1.1; 1.2, 1.3, 1.5; 2.1–2.3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  <a:ea typeface="Aptos"/>
                          <a:cs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40A876D-5D51-40F8-A7F1-B0A02F35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6588000"/>
            <a:ext cx="7200000" cy="125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800" b="0">
                <a:solidFill>
                  <a:srgbClr val="64707A"/>
                </a:solidFill>
                <a:latin typeface="Aptos"/>
                <a:ea typeface="Aptos"/>
                <a:cs typeface="Aptos"/>
              </a:rPr>
              <a:t>Прикладной анализ данных · проект дисциплины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C37B15E-F649-4967-977F-D43ECD0D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000" y="6588000"/>
            <a:ext cx="503999" cy="125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0"/>
              </a:spcAft>
              <a:buNone/>
            </a:pPr>
            <a:r>
              <a:rPr sz="800" b="0">
                <a:solidFill>
                  <a:srgbClr val="64707A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50667373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FBE0F2D-CEEF-4BE7-95AD-FBAF2AD8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162000"/>
            <a:ext cx="7200000" cy="1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900" b="1">
                <a:solidFill>
                  <a:srgbClr val="2F75B5"/>
                </a:solidFill>
                <a:latin typeface="Aptos"/>
                <a:ea typeface="Aptos"/>
                <a:cs typeface="Aptos"/>
              </a:rPr>
              <a:t>ИТОГ ДИСЦИПЛИНЫ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B93289-6D4A-400B-8CE1-58085239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342000"/>
            <a:ext cx="1062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25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Результат и оценивание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1F70DAD-5A4A-4D42-A66A-7704DA30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737999"/>
            <a:ext cx="1130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8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3858048D-C897-402B-BB19-8C0A9FB52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972000"/>
            <a:ext cx="4320000" cy="41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4E8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0313FEE-CC4A-4236-A0B2-ED0C75A0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972000"/>
            <a:ext cx="57600" cy="41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AD2EE05-4744-4524-8BC7-B33D96C57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198" y="1072800"/>
            <a:ext cx="4068001" cy="3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8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К зачёту студент сдаёт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A88FCFB-066B-4A99-AB43-54B80E0F8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1332000"/>
            <a:ext cx="4068001" cy="37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Материалы итогового проекта:
• итоговый commit
• аналитический отчёт
• презентация: 6–8 слайдов
• тезисный план: 1–2 страницы
• README и описание среды
• фрагмент проекта для показа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F4F62ED-9A95-4484-90AF-7B1FD94B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1007999"/>
            <a:ext cx="4320000" cy="251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Постановка и данные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3CA173B-F87F-494D-B0EE-47FA0721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000" y="1007999"/>
            <a:ext cx="900000" cy="270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0"/>
              </a:spcAft>
              <a:buNone/>
            </a:pPr>
            <a:r>
              <a:rPr sz="14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10 б.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907EF1B-C51F-40D3-B260-85220DD5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1295999"/>
            <a:ext cx="2340000" cy="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E9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300C8E0-F041-472A-AF89-49404149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1601999"/>
            <a:ext cx="4320000" cy="251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EDA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2DE0964-3C51-4E01-A20E-8EC2B1F3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000" y="1601999"/>
            <a:ext cx="900000" cy="270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0"/>
              </a:spcAft>
              <a:buNone/>
            </a:pPr>
            <a:r>
              <a:rPr sz="14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15 б.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EBBE066-C7AE-4DC2-9571-8206AC80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1889999"/>
            <a:ext cx="3510000" cy="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E9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61E842A-D2C8-466D-8F0D-6792C580D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2196000"/>
            <a:ext cx="4320000" cy="251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Подготовка данных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D802B8F-D5F8-4521-A0AC-F5E49B28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000" y="2196000"/>
            <a:ext cx="900000" cy="270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0"/>
              </a:spcAft>
              <a:buNone/>
            </a:pPr>
            <a:r>
              <a:rPr sz="14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15 б.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3292878-CDB2-4322-982D-DEDCBB03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2484000"/>
            <a:ext cx="3510000" cy="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E9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2CE036-8494-4642-96FA-4EBF339A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2790000"/>
            <a:ext cx="4320000" cy="251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Моделирование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358F366-4BDB-4C14-89D2-055DB057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000" y="2790000"/>
            <a:ext cx="900000" cy="270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0"/>
              </a:spcAft>
              <a:buNone/>
            </a:pPr>
            <a:r>
              <a:rPr sz="14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20 б.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EDBFB319-6E5B-451E-A5F6-42FEFABA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3078000"/>
            <a:ext cx="4680000" cy="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3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B236321-9EFC-4097-95B4-BBAB1AE3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3384000"/>
            <a:ext cx="4320000" cy="251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Валидация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E7473B0-9172-4C54-81A6-DDA6DE3D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000" y="3384000"/>
            <a:ext cx="900000" cy="270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0"/>
              </a:spcAft>
              <a:buNone/>
            </a:pPr>
            <a:r>
              <a:rPr sz="14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15 б.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38B6248F-C9EB-4836-9712-F784F9BF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3672000"/>
            <a:ext cx="3510000" cy="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E9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991F6ED-2731-4635-9529-ADAC5BA4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3978000"/>
            <a:ext cx="4320000" cy="251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Итоговый продукт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4E3CD939-ADC4-4451-A01E-948B866C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000" y="3978000"/>
            <a:ext cx="900000" cy="270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0"/>
              </a:spcAft>
              <a:buNone/>
            </a:pPr>
            <a:r>
              <a:rPr sz="14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15 б.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DF0491A1-773D-4F96-A522-A151C437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4266000"/>
            <a:ext cx="3510000" cy="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E9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69CC2458-A0C7-4798-997D-721190B1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4572000"/>
            <a:ext cx="4320000" cy="270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0">
                <a:solidFill>
                  <a:srgbClr val="202D37"/>
                </a:solidFill>
                <a:latin typeface="Aptos"/>
                <a:ea typeface="Aptos"/>
                <a:cs typeface="Aptos"/>
              </a:rPr>
              <a:t>Защита · 8 мин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93CEAFE7-91F0-40E1-AA3E-D4E975E0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000" y="4572000"/>
            <a:ext cx="900000" cy="270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0"/>
              </a:spcAft>
              <a:buNone/>
            </a:pPr>
            <a:r>
              <a:rPr sz="14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10 б.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44071715-A3ED-4725-8569-26B33974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4860000"/>
            <a:ext cx="2340000" cy="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E9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BF62BFDD-950C-4D55-BC67-580692FF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000" y="5472000"/>
            <a:ext cx="5940000" cy="6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400" b="1">
                <a:solidFill>
                  <a:srgbClr val="1F4E78"/>
                </a:solidFill>
                <a:latin typeface="Aptos"/>
                <a:ea typeface="Aptos"/>
                <a:cs typeface="Aptos"/>
              </a:rPr>
              <a:t>ДЗ · 20 человек · 180 минут
Слот: 4 мин доклад + 2 мин вопросы + 2 мин показ
Шкала: 50–69 — 3 · 70–85 — 4 · 86–100 — 5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A85B6524-E52B-4D3F-9A17-3EC5926C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6588000"/>
            <a:ext cx="7200000" cy="125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800" b="0">
                <a:solidFill>
                  <a:srgbClr val="64707A"/>
                </a:solidFill>
                <a:latin typeface="Aptos"/>
                <a:ea typeface="Aptos"/>
                <a:cs typeface="Aptos"/>
              </a:rPr>
              <a:t>Прикладной анализ данных · проект дисциплины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15A2A91C-DF99-41FE-BAC7-94FD4624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000" y="6588000"/>
            <a:ext cx="503999" cy="125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000" tIns="28800" rIns="54000" bIns="2880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0"/>
              </a:spcAft>
              <a:buNone/>
            </a:pPr>
            <a:r>
              <a:rPr sz="800" b="0">
                <a:solidFill>
                  <a:srgbClr val="64707A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79245398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2026-07-28T19:47:07.6530000Z</dcterms:created>
  <dcterms:modified xsi:type="dcterms:W3CDTF">2026-07-28T19:47:07.6530000Z</dcterms:modified>
</coreProperties>
</file>